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2.jpg" ContentType="image/jpeg"/>
  <Override PartName="/ppt/media/image13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2"/>
    <p:sldId id="260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81" r:id="rId11"/>
    <p:sldId id="266" r:id="rId12"/>
    <p:sldId id="267" r:id="rId13"/>
    <p:sldId id="268" r:id="rId14"/>
    <p:sldId id="279" r:id="rId15"/>
    <p:sldId id="280" r:id="rId16"/>
    <p:sldId id="276" r:id="rId17"/>
    <p:sldId id="277" r:id="rId18"/>
    <p:sldId id="278" r:id="rId19"/>
    <p:sldId id="269" r:id="rId20"/>
    <p:sldId id="270" r:id="rId21"/>
    <p:sldId id="271" r:id="rId22"/>
    <p:sldId id="274" r:id="rId23"/>
    <p:sldId id="275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94F9A-EF63-40BA-B1FA-DBAAF30639AE}" v="6" dt="2024-04-01T16:36:11.5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E2CD1-C182-4855-A9EB-EBB7E629C88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234BE-21DE-4D07-A0A4-66BEF0784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48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234BE-21DE-4D07-A0A4-66BEF0784CC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329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234BE-21DE-4D07-A0A4-66BEF0784CC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12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6699" y="529843"/>
            <a:ext cx="657860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448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29987" y="6451049"/>
            <a:ext cx="1242059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2401" y="6451049"/>
            <a:ext cx="2286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5.1265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ijedro.2025.100471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2600" y="636670"/>
            <a:ext cx="8839200" cy="181972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800" spc="-10" dirty="0"/>
              <a:t>Department</a:t>
            </a:r>
            <a:r>
              <a:rPr sz="1800" spc="65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spc="-20" dirty="0"/>
              <a:t>Computer</a:t>
            </a:r>
            <a:r>
              <a:rPr sz="1800" spc="90" dirty="0"/>
              <a:t> </a:t>
            </a:r>
            <a:r>
              <a:rPr sz="1800" dirty="0"/>
              <a:t>Science</a:t>
            </a:r>
            <a:r>
              <a:rPr sz="1800" spc="-60" dirty="0"/>
              <a:t> </a:t>
            </a:r>
            <a:r>
              <a:rPr sz="1800" spc="-10" dirty="0"/>
              <a:t>and</a:t>
            </a:r>
            <a:r>
              <a:rPr sz="1800" spc="40" dirty="0"/>
              <a:t> </a:t>
            </a:r>
            <a:r>
              <a:rPr sz="1800" dirty="0"/>
              <a:t>Engineering</a:t>
            </a:r>
            <a:br>
              <a:rPr lang="en-IN" sz="1800" dirty="0"/>
            </a:br>
            <a:r>
              <a:rPr lang="en-US" sz="2400" dirty="0">
                <a:solidFill>
                  <a:srgbClr val="FF0000"/>
                </a:solidFill>
              </a:rPr>
              <a:t>Explainable Fairness-Attentive ML and DL(Fair-</a:t>
            </a:r>
            <a:r>
              <a:rPr lang="en-US" sz="2400" dirty="0" err="1">
                <a:solidFill>
                  <a:srgbClr val="FF0000"/>
                </a:solidFill>
              </a:rPr>
              <a:t>ExplainHR</a:t>
            </a:r>
            <a:r>
              <a:rPr lang="en-US" sz="2400" dirty="0">
                <a:solidFill>
                  <a:srgbClr val="FF0000"/>
                </a:solidFill>
              </a:rPr>
              <a:t>):Ethical and Transparent Attrition Prediction with Engagement, Economic, and Behavioral Signals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9162" y="2079651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5" dirty="0">
                <a:latin typeface="Times New Roman"/>
                <a:cs typeface="Times New Roman"/>
              </a:rPr>
              <a:t>PRESENTED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1836" y="2589436"/>
            <a:ext cx="4560728" cy="14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>
              <a:lnSpc>
                <a:spcPct val="137300"/>
              </a:lnSpc>
              <a:spcBef>
                <a:spcPts val="95"/>
              </a:spcBef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Meesala Sivaiah	                  (22471A05H4)</a:t>
            </a:r>
          </a:p>
          <a:p>
            <a:pPr marL="12700" marR="5080" indent="8890">
              <a:lnSpc>
                <a:spcPct val="137300"/>
              </a:lnSpc>
              <a:spcBef>
                <a:spcPts val="95"/>
              </a:spcBef>
            </a:pP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Mallela Manikanta                        (22471A05H2)</a:t>
            </a:r>
            <a:endParaRPr lang="en-IN" sz="16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">
              <a:lnSpc>
                <a:spcPct val="100000"/>
              </a:lnSpc>
              <a:spcBef>
                <a:spcPts val="690"/>
              </a:spcBef>
            </a:pPr>
            <a:r>
              <a:rPr lang="en-IN" sz="1600" dirty="0"/>
              <a:t>Ikkurthi Dhanush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(22471A05F1)</a:t>
            </a:r>
          </a:p>
          <a:p>
            <a:pPr marL="21590">
              <a:lnSpc>
                <a:spcPct val="100000"/>
              </a:lnSpc>
              <a:spcBef>
                <a:spcPts val="69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6201" y="4038600"/>
            <a:ext cx="4424426" cy="223041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022350" marR="1009650" algn="ctr">
              <a:lnSpc>
                <a:spcPct val="122000"/>
              </a:lnSpc>
              <a:spcBef>
                <a:spcPts val="160"/>
              </a:spcBef>
            </a:pPr>
            <a:r>
              <a:rPr sz="1800" spc="-15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5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600"/>
                </a:solidFill>
                <a:latin typeface="Times New Roman"/>
                <a:cs typeface="Times New Roman"/>
              </a:rPr>
              <a:t>G</a:t>
            </a:r>
            <a:r>
              <a:rPr lang="en-IN" sz="1800" spc="-5" dirty="0">
                <a:solidFill>
                  <a:srgbClr val="006600"/>
                </a:solidFill>
                <a:latin typeface="Times New Roman"/>
                <a:cs typeface="Times New Roman"/>
              </a:rPr>
              <a:t>uidance</a:t>
            </a:r>
            <a:r>
              <a:rPr lang="en-IN" sz="1800" spc="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lang="en-IN" sz="1800" dirty="0">
                <a:solidFill>
                  <a:srgbClr val="006600"/>
                </a:solidFill>
                <a:latin typeface="Times New Roman"/>
                <a:cs typeface="Times New Roman"/>
              </a:rPr>
              <a:t>of</a:t>
            </a:r>
            <a:r>
              <a:rPr lang="en-IN" dirty="0">
                <a:solidFill>
                  <a:srgbClr val="006600"/>
                </a:solidFill>
                <a:latin typeface="Times New Roman"/>
                <a:cs typeface="Times New Roman"/>
              </a:rPr>
              <a:t>  </a:t>
            </a:r>
          </a:p>
          <a:p>
            <a:pPr marR="292735" algn="ctr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</a:t>
            </a:r>
            <a:r>
              <a:rPr lang="en-IN" sz="1400" dirty="0"/>
              <a:t>S.V.N. Sreenivasu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M.Tech.,</a:t>
            </a:r>
          </a:p>
          <a:p>
            <a:pPr marR="292735" algn="ctr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IN" sz="1550" spc="-5" dirty="0">
                <a:latin typeface="Times New Roman"/>
                <a:cs typeface="Times New Roman"/>
              </a:rPr>
              <a:t>Asst. Professor</a:t>
            </a:r>
            <a:r>
              <a:rPr lang="en-IN" sz="1550" b="1" dirty="0">
                <a:latin typeface="Times New Roman"/>
                <a:cs typeface="Times New Roman"/>
              </a:rPr>
              <a:t> </a:t>
            </a:r>
            <a:endParaRPr lang="en-IN"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2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5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26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73700"/>
              </a:lnSpc>
              <a:spcBef>
                <a:spcPts val="70"/>
              </a:spcBef>
            </a:pP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888888"/>
                </a:solidFill>
                <a:latin typeface="Times New Roman"/>
                <a:cs typeface="Times New Roman"/>
              </a:rPr>
              <a:t>College </a:t>
            </a:r>
            <a:r>
              <a:rPr sz="1550" spc="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spc="-37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2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</a:t>
            </a:r>
            <a:r>
              <a:rPr spc="5" dirty="0"/>
              <a:t>-</a:t>
            </a:r>
            <a:r>
              <a:rPr lang="en-IN" spc="5" dirty="0"/>
              <a:t>12</a:t>
            </a:r>
            <a:r>
              <a:rPr spc="5" dirty="0"/>
              <a:t>-202</a:t>
            </a:r>
            <a:r>
              <a:rPr lang="en-IN" spc="5" dirty="0"/>
              <a:t>5</a:t>
            </a:r>
            <a:endParaRPr spc="5" dirty="0"/>
          </a:p>
        </p:txBody>
      </p:sp>
      <p:sp>
        <p:nvSpPr>
          <p:cNvPr id="12" name="object 12"/>
          <p:cNvSpPr txBox="1"/>
          <p:nvPr/>
        </p:nvSpPr>
        <p:spPr>
          <a:xfrm>
            <a:off x="4350003" y="6451049"/>
            <a:ext cx="83439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.2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0658" y="6451049"/>
            <a:ext cx="107842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9080" y="6451049"/>
            <a:ext cx="124206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35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29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2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4001" y="64510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9096" y="529843"/>
            <a:ext cx="262128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29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173924"/>
            <a:ext cx="5559426" cy="4530727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Abstract</a:t>
            </a: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Introduction</a:t>
            </a: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dirty="0">
                <a:latin typeface="Times New Roman"/>
                <a:cs typeface="Times New Roman"/>
              </a:rPr>
              <a:t>Problem</a:t>
            </a:r>
            <a:r>
              <a:rPr lang="en-IN" sz="1800" spc="-75" dirty="0">
                <a:latin typeface="Times New Roman"/>
                <a:cs typeface="Times New Roman"/>
              </a:rPr>
              <a:t> </a:t>
            </a:r>
            <a:r>
              <a:rPr lang="en-IN"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Literature</a:t>
            </a:r>
            <a:r>
              <a:rPr lang="en-IN" sz="1800" spc="-95" dirty="0">
                <a:latin typeface="Times New Roman"/>
                <a:cs typeface="Times New Roman"/>
              </a:rPr>
              <a:t> </a:t>
            </a:r>
            <a:r>
              <a:rPr lang="en-IN" sz="1800" spc="-15" dirty="0">
                <a:latin typeface="Times New Roman"/>
                <a:cs typeface="Times New Roman"/>
              </a:rPr>
              <a:t>Survey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Research</a:t>
            </a:r>
            <a:r>
              <a:rPr lang="en-IN" sz="1800" spc="-110" dirty="0">
                <a:latin typeface="Times New Roman"/>
                <a:cs typeface="Times New Roman"/>
              </a:rPr>
              <a:t> </a:t>
            </a:r>
            <a:r>
              <a:rPr lang="en-IN" sz="1800" spc="-5" dirty="0">
                <a:latin typeface="Times New Roman"/>
                <a:cs typeface="Times New Roman"/>
              </a:rPr>
              <a:t>Gaps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5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5" dirty="0">
                <a:latin typeface="Times New Roman"/>
                <a:cs typeface="Times New Roman"/>
              </a:rPr>
              <a:t>Methodology</a:t>
            </a:r>
            <a:r>
              <a:rPr lang="en-IN" sz="1800" spc="-2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0" dirty="0">
                <a:latin typeface="Times New Roman"/>
                <a:cs typeface="Times New Roman"/>
              </a:rPr>
              <a:t>Block</a:t>
            </a:r>
            <a:r>
              <a:rPr lang="en-IN" sz="1800" spc="-5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</a:t>
            </a:r>
            <a:r>
              <a:rPr lang="en-IN" sz="1800" spc="90" dirty="0">
                <a:latin typeface="Times New Roman"/>
                <a:cs typeface="Times New Roman"/>
              </a:rPr>
              <a:t> </a:t>
            </a:r>
            <a:r>
              <a:rPr lang="en-IN" sz="1800" dirty="0">
                <a:latin typeface="Times New Roman"/>
                <a:cs typeface="Times New Roman"/>
              </a:rPr>
              <a:t>/</a:t>
            </a:r>
            <a:r>
              <a:rPr lang="en-IN" sz="1800" spc="20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Flow</a:t>
            </a:r>
            <a:r>
              <a:rPr lang="en-IN" sz="1800" spc="40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5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spc="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-5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s</a:t>
            </a: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5" dirty="0">
                <a:latin typeface="Times New Roman"/>
                <a:cs typeface="Times New Roman"/>
              </a:rPr>
              <a:t>Conclusion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Future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30" dirty="0">
                <a:latin typeface="Times New Roman"/>
                <a:cs typeface="Times New Roman"/>
              </a:rPr>
              <a:t>Q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20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20" dirty="0">
                <a:latin typeface="Times New Roman"/>
                <a:cs typeface="Times New Roman"/>
              </a:rPr>
              <a:t>t</a:t>
            </a:r>
            <a:r>
              <a:rPr sz="1800" spc="-5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30" dirty="0">
                <a:latin typeface="Times New Roman"/>
                <a:cs typeface="Times New Roman"/>
              </a:rPr>
              <a:t>sw</a:t>
            </a:r>
            <a:r>
              <a:rPr sz="1800" spc="20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rs</a:t>
            </a: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0590" y="529843"/>
            <a:ext cx="309689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A</a:t>
            </a:r>
            <a:r>
              <a:rPr spc="60" dirty="0"/>
              <a:t>B</a:t>
            </a:r>
            <a:r>
              <a:rPr spc="20" dirty="0"/>
              <a:t>S</a:t>
            </a:r>
            <a:r>
              <a:rPr spc="-10" dirty="0"/>
              <a:t>T</a:t>
            </a:r>
            <a:r>
              <a:rPr spc="45" dirty="0"/>
              <a:t>RA</a:t>
            </a:r>
            <a:r>
              <a:rPr spc="-25" dirty="0"/>
              <a:t>C</a:t>
            </a:r>
            <a:r>
              <a:rPr spc="20" dirty="0"/>
              <a:t>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8314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450022"/>
            <a:ext cx="10320655" cy="4152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430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D70BB-5239-88AF-01A6-8B000EAE3E37}"/>
              </a:ext>
            </a:extLst>
          </p:cNvPr>
          <p:cNvSpPr txBox="1"/>
          <p:nvPr/>
        </p:nvSpPr>
        <p:spPr>
          <a:xfrm>
            <a:off x="1589844" y="1997839"/>
            <a:ext cx="88426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Employee attrition significantly affects organizational productivity and increases operational costs. Existing prediction models often lack fairness, interpretability, and human-focused signals. To address these gaps, Fair-</a:t>
            </a:r>
            <a:r>
              <a:rPr lang="en-US" sz="2000" dirty="0" err="1"/>
              <a:t>ExplainHR</a:t>
            </a:r>
            <a:r>
              <a:rPr lang="en-US" sz="2000" dirty="0"/>
              <a:t> integrates engineered burnout, engagement, and economic-stress features to provide a more realistic understanding of attrition behavior. The system uses a deep stacked ensemble combining GRU, TabNet, and XGBoost, achieving 96% accuracy and outperforming previous hybrid approaches. SHAP-based explainability ensures transparent and ethical predictions, enabling HR teams to clearly understand the factors influencing each outcome.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5834" y="529843"/>
            <a:ext cx="452691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19600" y="6451049"/>
            <a:ext cx="914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5240" y="6451049"/>
            <a:ext cx="10141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060120" y="643247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66107" y="1410489"/>
            <a:ext cx="10512425" cy="480644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Employee attrition severely disrupts organizational workflow and increases operational and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rehiring costs.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Traditional machine learning models provide good accuracy but often lack fairness, transparency, and explainability.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There is a growing need for human-centric, ethically reliable, and interpretable prediction systems.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The proposed </a:t>
            </a:r>
            <a:r>
              <a:rPr lang="en-US" altLang="en-US" sz="2000" i="1" dirty="0">
                <a:latin typeface="Arial" panose="020B0604020202020204" pitchFamily="34" charset="0"/>
              </a:rPr>
              <a:t>Fair-</a:t>
            </a:r>
            <a:r>
              <a:rPr lang="en-US" altLang="en-US" sz="2000" i="1" dirty="0" err="1">
                <a:latin typeface="Arial" panose="020B0604020202020204" pitchFamily="34" charset="0"/>
              </a:rPr>
              <a:t>ExplainHR</a:t>
            </a:r>
            <a:r>
              <a:rPr lang="en-US" altLang="en-US" sz="2000" dirty="0">
                <a:latin typeface="Arial" panose="020B0604020202020204" pitchFamily="34" charset="0"/>
              </a:rPr>
              <a:t> framework integrates engineered behavioral, engagement,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and economic features to capture deeper attrition signals.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The system combines deep learning architectures with explainable AI techniques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to enhance both predictive accuracy and transparency.</a:t>
            </a:r>
          </a:p>
          <a:p>
            <a:pPr marL="241300" indent="-229235" algn="just">
              <a:spcBef>
                <a:spcPts val="680"/>
              </a:spcBef>
              <a:buFont typeface="Arial MT"/>
              <a:buChar char="•"/>
              <a:tabLst>
                <a:tab pos="241935" algn="l"/>
                <a:tab pos="1907539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445" y="529843"/>
            <a:ext cx="64420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PROBLEM</a:t>
            </a:r>
            <a:r>
              <a:rPr spc="-240" dirty="0"/>
              <a:t> </a:t>
            </a:r>
            <a:r>
              <a:rPr spc="-55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076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794881" y="6451049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F7C4C-E9CF-C66E-B7DA-DBCCAAD90C3A}"/>
              </a:ext>
            </a:extLst>
          </p:cNvPr>
          <p:cNvSpPr txBox="1"/>
          <p:nvPr/>
        </p:nvSpPr>
        <p:spPr>
          <a:xfrm>
            <a:off x="898284" y="1905000"/>
            <a:ext cx="101767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Companies are struggling because many employees are leaving unexpectedly, which reduces productivity and increases hiring costs.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Existing prediction models are not fair, not transparent, and do not consider important human factors like burnout, engagement, and financial stress.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There is a need for an accurate, explainable, and fairness-aware system that can correctly predict attrition and show </a:t>
            </a:r>
            <a:r>
              <a:rPr lang="en-US" sz="2400" i="1" dirty="0"/>
              <a:t>why</a:t>
            </a:r>
            <a:r>
              <a:rPr lang="en-US" sz="2400" dirty="0"/>
              <a:t> an employee may leave.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0593" y="270745"/>
            <a:ext cx="55187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30" dirty="0"/>
              <a:t>LITERATURE</a:t>
            </a:r>
            <a:r>
              <a:rPr sz="3950" spc="250" dirty="0"/>
              <a:t> </a:t>
            </a:r>
            <a:r>
              <a:rPr sz="3950" spc="-3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144321" y="6468567"/>
            <a:ext cx="103765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076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0B2DBF82-339B-B352-3719-DA8B4BA8C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08591"/>
              </p:ext>
            </p:extLst>
          </p:nvPr>
        </p:nvGraphicFramePr>
        <p:xfrm>
          <a:off x="304800" y="845523"/>
          <a:ext cx="11658600" cy="5570517"/>
        </p:xfrm>
        <a:graphic>
          <a:graphicData uri="http://schemas.openxmlformats.org/drawingml/2006/table">
            <a:tbl>
              <a:tblPr firstRow="1" bandRow="1"/>
              <a:tblGrid>
                <a:gridCol w="388620">
                  <a:extLst>
                    <a:ext uri="{9D8B030D-6E8A-4147-A177-3AD203B41FA5}">
                      <a16:colId xmlns:a16="http://schemas.microsoft.com/office/drawing/2014/main" val="166576671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94678918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3483638722"/>
                    </a:ext>
                  </a:extLst>
                </a:gridCol>
                <a:gridCol w="2564892">
                  <a:extLst>
                    <a:ext uri="{9D8B030D-6E8A-4147-A177-3AD203B41FA5}">
                      <a16:colId xmlns:a16="http://schemas.microsoft.com/office/drawing/2014/main" val="1190061112"/>
                    </a:ext>
                  </a:extLst>
                </a:gridCol>
                <a:gridCol w="1865376">
                  <a:extLst>
                    <a:ext uri="{9D8B030D-6E8A-4147-A177-3AD203B41FA5}">
                      <a16:colId xmlns:a16="http://schemas.microsoft.com/office/drawing/2014/main" val="3469305604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385310664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1601472594"/>
                    </a:ext>
                  </a:extLst>
                </a:gridCol>
              </a:tblGrid>
              <a:tr h="569493"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Author,Year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Link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051210"/>
                  </a:ext>
                </a:extLst>
              </a:tr>
              <a:tr h="937557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employee attrition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explaining its determinants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Shahin Manafi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Varkiani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2025, Expert Systems With Applications (Elsevier)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https://doi.org/10.1016/j.eswa.2025.126575</a:t>
                      </a: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</a:b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</a:b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Bayes, Logistic Regression (Lasso, Ridge,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ElasticNet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Decision Tree, Random Forest; ROSE method for class imbalance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/>
                        <a:t>Compared SVM, DT, RF; RF performed best among them.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not yet widely used in HR despite strong interpretability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25414"/>
                  </a:ext>
                </a:extLst>
              </a:tr>
              <a:tr h="1079039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Employee Attrition: A Comparative Analysis of Machine Learning Models Using the IBM Human Resource Analytics Dataset</a:t>
                      </a: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Rajkumar Govindarajan, Sai Pravallika E., Dhatri B., Pavan Kumar G. (2025), Procedia Computer Science (Elsevier)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  <a:t>https://doi.org/10.1016/j.procs.2025.04.659</a:t>
                      </a: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(SVM)- Decision Tree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Random Forest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Gradient Boosting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Hybrid Model (Voting Classifier approach)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Model combining multiple algorithms achieved the highest accuracy (95%),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 of hybrid models; lack of interpretability; demands high-quality data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357853"/>
                  </a:ext>
                </a:extLst>
              </a:tr>
              <a:tr h="91418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Employee Churn Prediction with Weibull Time-to-Event Modeling</a:t>
                      </a: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Hafiza Habiba Shabbir, Published in Journal of Engineering Research, 2025, Elsevier (Kuwait University)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  <a:t>https://doi.org/10.1016/j.jer.2025.03.009</a:t>
                      </a: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Primary: WTTE-RNN - Compared with: Random Forest, XGBoost, Logistic Regression, ARIMA, SARIMAX, LSTM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superiority over Random Forest, XGBoost, ARIMA, SARIMAX, and LSTM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integration of additional features (e.g., engagement, economic indicators)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6231"/>
                  </a:ext>
                </a:extLst>
              </a:tr>
              <a:tr h="1079039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Teacher Attrition in Secondary Education: A Comparison of Models That Explain Teacher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Neline de Jong-Kroon, Stefan Robbers, Published in International Journal of Educational Research Open, 2025, Elsevier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https://doi.org/10.1016/j.ijedro.2025.100471</a:t>
                      </a:r>
                      <a:endParaRPr lang="en-IN" sz="1100" b="0" i="0" u="sng" strike="noStrike" dirty="0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-SEM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CFA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(Not ML-based but psychometric/statistical modeling)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model of SDT + IMBP showed weaker overall model fit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model complexity led to poorer model fit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Small sample size (n=199) limits generalizability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402542"/>
                  </a:ext>
                </a:extLst>
              </a:tr>
              <a:tr h="91418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Employee Churn Prediction with Weibull Time-to-Event Modeling</a:t>
                      </a: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Beenish Ayesha Akram,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 Journal of Engineering Research, Elsevier, 2025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sng" strike="noStrike" dirty="0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  <a:t>https://doi.org/10.1016/j.jer.2025.03.009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WTTE-RNN Baselines Compared: Logistic Regression, Random Forest, XGBoost, ARIMA, SARIMAX, LSTM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 better retention strategy formation for HR</a:t>
                      </a:r>
                    </a:p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 a novel WTTE-RNN deep learning model that outperformed  ML models.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inclusion of more diverse external factors (e.g., engagement scores, economy)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751" y="529843"/>
            <a:ext cx="611759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L</a:t>
            </a:r>
            <a:r>
              <a:rPr spc="10" dirty="0"/>
              <a:t>I</a:t>
            </a:r>
            <a:r>
              <a:rPr spc="-15" dirty="0"/>
              <a:t>TE</a:t>
            </a:r>
            <a:r>
              <a:rPr spc="45" dirty="0"/>
              <a:t>R</a:t>
            </a:r>
            <a:r>
              <a:rPr spc="-254" dirty="0"/>
              <a:t>A</a:t>
            </a:r>
            <a:r>
              <a:rPr spc="-15" dirty="0"/>
              <a:t>T</a:t>
            </a:r>
            <a:r>
              <a:rPr spc="45" dirty="0"/>
              <a:t>UR</a:t>
            </a:r>
            <a:r>
              <a:rPr spc="20" dirty="0"/>
              <a:t>E</a:t>
            </a:r>
            <a:r>
              <a:rPr spc="-235" dirty="0"/>
              <a:t> </a:t>
            </a:r>
            <a:r>
              <a:rPr spc="15" dirty="0"/>
              <a:t>S</a:t>
            </a:r>
            <a:r>
              <a:rPr spc="55" dirty="0"/>
              <a:t>U</a:t>
            </a:r>
            <a:r>
              <a:rPr spc="-100" dirty="0"/>
              <a:t>R</a:t>
            </a:r>
            <a:r>
              <a:rPr spc="45" dirty="0"/>
              <a:t>V</a:t>
            </a:r>
            <a:r>
              <a:rPr spc="-15" dirty="0"/>
              <a:t>E</a:t>
            </a:r>
            <a:r>
              <a:rPr spc="20" dirty="0"/>
              <a:t>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4520" y="6451049"/>
            <a:ext cx="96186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6176" y="1371274"/>
            <a:ext cx="10664825" cy="395685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Research on employee attrition prediction has gradually shifted from traditional machine-learning models — such as Decision Trees, SVM, Random Forest, and Gradient Boosting — to more advanced deep-learning methods. While these classical models provided moderate accuracy (mostly below 90–95%), they lacked fairness checks, interpretability, and human-centered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Modern studies introduced deep models like RNNs, LSTMs, and neural-network ensembles, but most suffered from black-box behavior and did not include behavioral, engagement, or economic signals that strongly influence attrition. Even recent hybrid models reached only 95% accuracy and did not integrate explainability tools like SHAP. None of the existing approaches combined GRU, TabNet, and XGBoost with fairness evaluation, leaving a gap for an ethical, interpretable, high-performance HR attrition system.</a:t>
            </a:r>
          </a:p>
          <a:p>
            <a:pPr marL="241300" indent="-229235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93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754" y="529843"/>
            <a:ext cx="4769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-10" dirty="0"/>
              <a:t>E</a:t>
            </a:r>
            <a:r>
              <a:rPr spc="45" dirty="0"/>
              <a:t>ARC</a:t>
            </a:r>
            <a:r>
              <a:rPr spc="20" dirty="0"/>
              <a:t>H</a:t>
            </a:r>
            <a:r>
              <a:rPr spc="-195" dirty="0"/>
              <a:t> </a:t>
            </a:r>
            <a:r>
              <a:rPr spc="-55" dirty="0"/>
              <a:t>G</a:t>
            </a:r>
            <a:r>
              <a:rPr spc="45" dirty="0"/>
              <a:t>A</a:t>
            </a:r>
            <a:r>
              <a:rPr spc="15" dirty="0"/>
              <a:t>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1754" y="6451049"/>
            <a:ext cx="130276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466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9979026" cy="5309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just">
              <a:buClr>
                <a:schemeClr val="tx1"/>
              </a:buCl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AD5CE-BEAD-366B-5DE1-23768828077A}"/>
              </a:ext>
            </a:extLst>
          </p:cNvPr>
          <p:cNvSpPr txBox="1"/>
          <p:nvPr/>
        </p:nvSpPr>
        <p:spPr>
          <a:xfrm>
            <a:off x="1333499" y="1582340"/>
            <a:ext cx="952500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models (RF, SVM, DT) show limited accuracy (&lt;90–95%).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fairness or bias evaluation in prior 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Behavioral &amp; engagement features not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models lack explainability (No SHAP).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model combines GRU + TabNet + XGBoost + SHAP.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feature engineering for HR-specific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solutions not transparent or HR-friendly.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699072"/>
            <a:ext cx="822642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20" dirty="0"/>
              <a:t>Proposed Work &amp; </a:t>
            </a:r>
            <a:r>
              <a:rPr spc="20" dirty="0"/>
              <a:t>O</a:t>
            </a:r>
            <a:r>
              <a:rPr lang="en-IN" spc="65" dirty="0" err="1"/>
              <a:t>bjective</a:t>
            </a:r>
            <a:endParaRPr spc="15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06332-1227-E2F5-39C8-54D6DEA92878}"/>
              </a:ext>
            </a:extLst>
          </p:cNvPr>
          <p:cNvSpPr txBox="1"/>
          <p:nvPr/>
        </p:nvSpPr>
        <p:spPr>
          <a:xfrm>
            <a:off x="762000" y="1752600"/>
            <a:ext cx="108172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Proposed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</a:t>
            </a:r>
            <a:r>
              <a:rPr lang="en-US" sz="2000" b="1" dirty="0"/>
              <a:t>Fair-</a:t>
            </a:r>
            <a:r>
              <a:rPr lang="en-US" sz="2000" b="1" dirty="0" err="1"/>
              <a:t>ExplainHR</a:t>
            </a:r>
            <a:r>
              <a:rPr lang="en-US" sz="2000" dirty="0"/>
              <a:t>, a fairness-aware and interpretable attrition prediction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 </a:t>
            </a:r>
            <a:r>
              <a:rPr lang="en-US" sz="2000" b="1" dirty="0"/>
              <a:t>engineered behavioral, engagement, and economic features</a:t>
            </a:r>
            <a:r>
              <a:rPr lang="en-US" sz="2000" dirty="0"/>
              <a:t> to improve prediction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a </a:t>
            </a:r>
            <a:r>
              <a:rPr lang="en-US" sz="2000" b="1" dirty="0"/>
              <a:t>deep stacked ensemble</a:t>
            </a:r>
            <a:r>
              <a:rPr lang="en-US" sz="2000" dirty="0"/>
              <a:t> using GRU + TabNet + XGBoost with </a:t>
            </a:r>
            <a:r>
              <a:rPr lang="en-US" sz="2000" dirty="0" err="1"/>
              <a:t>Optuna</a:t>
            </a:r>
            <a:r>
              <a:rPr lang="en-US" sz="2000" dirty="0"/>
              <a:t> tuning.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</a:t>
            </a:r>
            <a:r>
              <a:rPr lang="en-US" sz="2000" b="1" dirty="0"/>
              <a:t>SMOTE, feature selection, and correlation analysis</a:t>
            </a:r>
            <a:r>
              <a:rPr lang="en-US" sz="2000" dirty="0"/>
              <a:t> to strengthen model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 </a:t>
            </a:r>
            <a:r>
              <a:rPr lang="en-US" sz="2000" b="1" dirty="0"/>
              <a:t>transparent SHAP-based explanations</a:t>
            </a:r>
            <a:r>
              <a:rPr lang="en-US" sz="2000" dirty="0"/>
              <a:t> for HR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 </a:t>
            </a:r>
            <a:r>
              <a:rPr lang="en-US" sz="2400" dirty="0"/>
              <a:t>Objective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 a fairness-aware and interpretable attrition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Introduce engineered features: </a:t>
            </a:r>
            <a:r>
              <a:rPr lang="en-US" sz="2000" dirty="0" err="1"/>
              <a:t>burnout,engagement,economic</a:t>
            </a:r>
            <a:r>
              <a:rPr lang="en-US" sz="2000" dirty="0"/>
              <a:t>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 accuracy beyond existing hybrid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AE5D-88B5-4605-C4AF-ECB64CAA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305786-15AC-A777-E966-485B1392D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30883"/>
            <a:ext cx="1036002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Novel Deep Stacked Ensemble: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GRU + TabNet + XGBoost with meta-classifier        achieving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surpassing hybrid baselines.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Feature Engineering: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BurnoutIndex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EngagementScore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EconomicStress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missing in existing 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Optuna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Hyperparameter Tuning: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tuning for all three models to improve generalization and reduce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Integration (SHAP):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Provided global and individual explanations to remove black-box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Fairness Evaluation: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Verified equal performance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and age groups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ethical and unbiased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Practical 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a working web interface for real-time HR attrition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1025606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597454"/>
            <a:ext cx="46729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28673" y="1742410"/>
            <a:ext cx="10893425" cy="416761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Preprocess HR CSV data by applying label encoding, scaling, handling missing values, and balancing attrition classes using SMOTE.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Engineer meaningful human-focused features such as </a:t>
            </a:r>
            <a:r>
              <a:rPr lang="en-IN" sz="2000" dirty="0" err="1"/>
              <a:t>BurnoutIndex</a:t>
            </a:r>
            <a:r>
              <a:rPr lang="en-IN" sz="2000" dirty="0"/>
              <a:t>, </a:t>
            </a:r>
            <a:r>
              <a:rPr lang="en-IN" sz="2000" dirty="0" err="1"/>
              <a:t>EngagementScore</a:t>
            </a:r>
            <a:r>
              <a:rPr lang="en-IN" sz="2000" dirty="0"/>
              <a:t>, and EconomicStress using correlation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Train a deep stacked ensemble combining GRU (temporal patterns), </a:t>
            </a:r>
            <a:r>
              <a:rPr lang="en-IN" sz="2000" dirty="0" err="1"/>
              <a:t>TabNet</a:t>
            </a:r>
            <a:r>
              <a:rPr lang="en-IN" sz="2000" dirty="0"/>
              <a:t> (tabular interpretability), and XGBoost (boosting performance).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Optimize all model hyperparameters using </a:t>
            </a:r>
            <a:r>
              <a:rPr lang="en-IN" sz="2000" dirty="0" err="1"/>
              <a:t>Optuna</a:t>
            </a:r>
            <a:r>
              <a:rPr lang="en-IN" sz="2000" dirty="0"/>
              <a:t> to improve accuracy, reduce variance, and enhance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Evaluate the final model using accuracy, precision, recall, F1-score, ROC-AUC, and compare performance with traditional and hybrid ML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 SHAP explainability to interpret feature contributions and provide transparent insights for HR decision-making.</a:t>
            </a:r>
          </a:p>
          <a:p>
            <a:pPr marL="241300" marR="290830" indent="-229235" algn="just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  <a:tab pos="2394585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9771" y="152400"/>
            <a:ext cx="97269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3950" spc="20" dirty="0"/>
              <a:t>FLOW</a:t>
            </a:r>
            <a:r>
              <a:rPr sz="3950" spc="-25" dirty="0"/>
              <a:t> </a:t>
            </a:r>
            <a:r>
              <a:rPr sz="3950" spc="5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37994" y="6465822"/>
            <a:ext cx="93681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1781" y="6465822"/>
            <a:ext cx="9614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D54169-A29E-8E8B-DD82-4DB2FE0C1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844184"/>
            <a:ext cx="4038600" cy="5577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306963"/>
            <a:ext cx="8248014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spc="-30" dirty="0"/>
              <a:t>Implementation Work Flow</a:t>
            </a:r>
            <a:endParaRPr sz="3200"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7200" y="6451049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16318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671521"/>
            <a:ext cx="11582400" cy="59093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IN" sz="2000" b="1" dirty="0"/>
              <a:t>1. Dataset Loading</a:t>
            </a:r>
          </a:p>
          <a:p>
            <a:r>
              <a:rPr lang="en-IN" sz="2000" dirty="0"/>
              <a:t>IBM HR Analytics dataset (1470 records, 35 features) loaded into Colab.</a:t>
            </a:r>
          </a:p>
          <a:p>
            <a:r>
              <a:rPr lang="en-IN" sz="2000" dirty="0"/>
              <a:t>Target variable </a:t>
            </a:r>
            <a:r>
              <a:rPr lang="en-IN" sz="2000" b="1" dirty="0"/>
              <a:t>Attrition</a:t>
            </a:r>
            <a:r>
              <a:rPr lang="en-IN" sz="2000" dirty="0"/>
              <a:t> converted to binary (Yes → 1, No → 0).</a:t>
            </a:r>
          </a:p>
          <a:p>
            <a:r>
              <a:rPr lang="en-IN" sz="2000" b="1" dirty="0"/>
              <a:t>2. Preprocessing</a:t>
            </a:r>
          </a:p>
          <a:p>
            <a:r>
              <a:rPr lang="en-IN" sz="2000" dirty="0"/>
              <a:t>Removed redundant columns: </a:t>
            </a:r>
            <a:r>
              <a:rPr lang="en-IN" sz="2000" i="1" dirty="0"/>
              <a:t>EmployeeNumber, EmployeeCount, StandardHours, Over18</a:t>
            </a:r>
            <a:r>
              <a:rPr lang="en-IN" sz="2000" dirty="0"/>
              <a:t>.</a:t>
            </a:r>
          </a:p>
          <a:p>
            <a:r>
              <a:rPr lang="en-IN" sz="2000" dirty="0"/>
              <a:t>Applied </a:t>
            </a:r>
            <a:r>
              <a:rPr lang="en-IN" sz="2000" b="1" dirty="0"/>
              <a:t>Label Encoding + One-Hot Encoding</a:t>
            </a:r>
            <a:r>
              <a:rPr lang="en-IN" sz="2000" dirty="0"/>
              <a:t> for categorical variables.</a:t>
            </a:r>
          </a:p>
          <a:p>
            <a:r>
              <a:rPr lang="en-IN" sz="2000" dirty="0"/>
              <a:t>Handled class imbalance using </a:t>
            </a:r>
            <a:r>
              <a:rPr lang="en-IN" sz="2000" b="1" dirty="0"/>
              <a:t>SMOTE</a:t>
            </a:r>
            <a:r>
              <a:rPr lang="en-IN" sz="2000" dirty="0"/>
              <a:t>.</a:t>
            </a:r>
          </a:p>
          <a:p>
            <a:r>
              <a:rPr lang="en-IN" sz="2000" dirty="0"/>
              <a:t>Applied </a:t>
            </a:r>
            <a:r>
              <a:rPr lang="en-IN" sz="2000" b="1" dirty="0"/>
              <a:t>Z-score Standardization</a:t>
            </a:r>
            <a:r>
              <a:rPr lang="en-IN" sz="2000" dirty="0"/>
              <a:t> for numerical features.</a:t>
            </a:r>
          </a:p>
          <a:p>
            <a:r>
              <a:rPr lang="en-IN" sz="2000" b="1" dirty="0"/>
              <a:t>3. Feature Engineering</a:t>
            </a:r>
          </a:p>
          <a:p>
            <a:r>
              <a:rPr lang="en-IN" sz="2000" b="1" dirty="0"/>
              <a:t>Burnout Index</a:t>
            </a:r>
            <a:r>
              <a:rPr lang="en-IN" sz="2000" dirty="0"/>
              <a:t> = Overtime × Low Job Satisfaction × Low Work-Life Balance</a:t>
            </a:r>
          </a:p>
          <a:p>
            <a:r>
              <a:rPr lang="en-IN" sz="2000" b="1" dirty="0"/>
              <a:t>Engagement Score</a:t>
            </a:r>
            <a:r>
              <a:rPr lang="en-IN" sz="2000" dirty="0"/>
              <a:t> = Job Satisfaction + Job Involvement</a:t>
            </a:r>
          </a:p>
          <a:p>
            <a:r>
              <a:rPr lang="en-IN" sz="2000" b="1" dirty="0"/>
              <a:t>Economic Stress Indicator</a:t>
            </a:r>
            <a:r>
              <a:rPr lang="en-IN" sz="2000" dirty="0"/>
              <a:t> = Monthly Income + Distance from Home</a:t>
            </a:r>
          </a:p>
          <a:p>
            <a:r>
              <a:rPr lang="en-IN" sz="2000" dirty="0"/>
              <a:t>Correlation analysis used to remove irrelevant/redundant features.</a:t>
            </a:r>
          </a:p>
          <a:p>
            <a:r>
              <a:rPr lang="en-IN" sz="2000" b="1" dirty="0"/>
              <a:t>4. Model Training</a:t>
            </a:r>
          </a:p>
          <a:p>
            <a:r>
              <a:rPr lang="en-IN" sz="2000" b="1" dirty="0"/>
              <a:t>XGBoost:</a:t>
            </a:r>
            <a:r>
              <a:rPr lang="en-IN" sz="2000" dirty="0"/>
              <a:t> for gradient-boosted decision trees</a:t>
            </a:r>
          </a:p>
          <a:p>
            <a:r>
              <a:rPr lang="en-IN" sz="2000" b="1" dirty="0" err="1"/>
              <a:t>TabNet</a:t>
            </a:r>
            <a:r>
              <a:rPr lang="en-IN" sz="2000" b="1" dirty="0"/>
              <a:t>:</a:t>
            </a:r>
            <a:r>
              <a:rPr lang="en-IN" sz="2000" dirty="0"/>
              <a:t> attention-based deep learning for tabular data</a:t>
            </a:r>
          </a:p>
          <a:p>
            <a:r>
              <a:rPr lang="en-IN" sz="2000" b="1" dirty="0"/>
              <a:t>GRU:</a:t>
            </a:r>
            <a:r>
              <a:rPr lang="en-IN" sz="2000" dirty="0"/>
              <a:t> neural network for learning complex feature interactions</a:t>
            </a:r>
          </a:p>
          <a:p>
            <a:r>
              <a:rPr lang="en-IN" sz="2000" dirty="0"/>
              <a:t>All models tuned using </a:t>
            </a:r>
            <a:r>
              <a:rPr lang="en-IN" sz="2000" b="1" dirty="0" err="1"/>
              <a:t>Optuna</a:t>
            </a:r>
            <a:r>
              <a:rPr lang="en-IN" sz="2000" dirty="0"/>
              <a:t> for best performance.</a:t>
            </a:r>
          </a:p>
          <a:p>
            <a:pPr marL="457200" indent="-457200"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5E8C-B48D-A4B8-9A1C-2E15EB7F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529843"/>
            <a:ext cx="8467724" cy="492443"/>
          </a:xfrm>
        </p:spPr>
        <p:txBody>
          <a:bodyPr/>
          <a:lstStyle/>
          <a:p>
            <a:r>
              <a:rPr lang="en-IN" sz="3200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FB435-7470-5B47-0F95-6256629A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4616648"/>
          </a:xfrm>
        </p:spPr>
        <p:txBody>
          <a:bodyPr/>
          <a:lstStyle/>
          <a:p>
            <a:r>
              <a:rPr lang="en-IN" sz="2000" b="1" dirty="0"/>
              <a:t>5. Stacked Ensemble</a:t>
            </a:r>
          </a:p>
          <a:p>
            <a:r>
              <a:rPr lang="en-IN" sz="2000" dirty="0"/>
              <a:t>Combined </a:t>
            </a:r>
            <a:r>
              <a:rPr lang="en-IN" sz="2000" b="1" dirty="0"/>
              <a:t>GRU + </a:t>
            </a:r>
            <a:r>
              <a:rPr lang="en-IN" sz="2000" b="1" dirty="0" err="1"/>
              <a:t>TabNet</a:t>
            </a:r>
            <a:r>
              <a:rPr lang="en-IN" sz="2000" b="1" dirty="0"/>
              <a:t> + XGBoost</a:t>
            </a:r>
            <a:r>
              <a:rPr lang="en-IN" sz="2000" dirty="0"/>
              <a:t> predictions using a meta-classifier.</a:t>
            </a:r>
          </a:p>
          <a:p>
            <a:r>
              <a:rPr lang="en-IN" sz="2000" dirty="0"/>
              <a:t>Soft voting/stacking approach improves stability and accuracy.</a:t>
            </a:r>
          </a:p>
          <a:p>
            <a:r>
              <a:rPr lang="en-IN" sz="2000" dirty="0"/>
              <a:t>Achieved </a:t>
            </a:r>
            <a:r>
              <a:rPr lang="en-IN" sz="2000" b="1" dirty="0"/>
              <a:t>96% accuracy</a:t>
            </a:r>
            <a:r>
              <a:rPr lang="en-IN" sz="2000" dirty="0"/>
              <a:t>, surpassing traditional hybrid models.</a:t>
            </a:r>
          </a:p>
          <a:p>
            <a:endParaRPr lang="en-IN" sz="2000" dirty="0"/>
          </a:p>
          <a:p>
            <a:r>
              <a:rPr lang="en-IN" sz="2000" b="1" dirty="0"/>
              <a:t>6. Explainability (SHAP)</a:t>
            </a:r>
          </a:p>
          <a:p>
            <a:r>
              <a:rPr lang="en-IN" sz="2000" dirty="0"/>
              <a:t>SHAP used to interpret predictions globally and locally.</a:t>
            </a:r>
          </a:p>
          <a:p>
            <a:r>
              <a:rPr lang="en-IN" sz="2000" dirty="0"/>
              <a:t>Shows which factors increase or decrease attrition probability.</a:t>
            </a:r>
          </a:p>
          <a:p>
            <a:r>
              <a:rPr lang="en-IN" sz="2000" dirty="0"/>
              <a:t>Ensures model transparency and HR-friendly explanations.</a:t>
            </a:r>
          </a:p>
          <a:p>
            <a:endParaRPr lang="en-IN" sz="2000" dirty="0"/>
          </a:p>
          <a:p>
            <a:r>
              <a:rPr lang="en-IN" sz="2000" b="1" dirty="0"/>
              <a:t>7. Final Output</a:t>
            </a:r>
          </a:p>
          <a:p>
            <a:r>
              <a:rPr lang="en-IN" sz="2000" dirty="0"/>
              <a:t>Web interface (CSV upload) predicts </a:t>
            </a:r>
            <a:r>
              <a:rPr lang="en-IN" sz="2000" i="1" dirty="0"/>
              <a:t>Attrition / Non-Attrition</a:t>
            </a:r>
            <a:r>
              <a:rPr lang="en-IN" sz="2000" dirty="0"/>
              <a:t>.</a:t>
            </a:r>
          </a:p>
          <a:p>
            <a:r>
              <a:rPr lang="en-IN" sz="2000" dirty="0"/>
              <a:t>Displays SHAP-based explanations for  employees.</a:t>
            </a:r>
          </a:p>
          <a:p>
            <a:r>
              <a:rPr lang="en-IN" sz="2000" dirty="0"/>
              <a:t>Provides fairness-aware, interpretable predictions.</a:t>
            </a:r>
          </a:p>
          <a:p>
            <a:endParaRPr lang="en-IN" sz="2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83AE66E-50F2-E9A3-3E43-D2CDB748B0F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5E6E88-4289-3D7A-52A8-E6A530EC3049}"/>
              </a:ext>
            </a:extLst>
          </p:cNvPr>
          <p:cNvSpPr txBox="1"/>
          <p:nvPr/>
        </p:nvSpPr>
        <p:spPr>
          <a:xfrm>
            <a:off x="3810000" y="6451049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5F0D675-76A2-925C-85CE-9B11020549A2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EA047B4-DCED-DAA7-1A33-9B00B2B249D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16318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</p:spTree>
    <p:extLst>
      <p:ext uri="{BB962C8B-B14F-4D97-AF65-F5344CB8AC3E}">
        <p14:creationId xmlns:p14="http://schemas.microsoft.com/office/powerpoint/2010/main" val="3542570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2517-89D7-5FA5-B3A0-1261E73F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4" y="533401"/>
            <a:ext cx="10588625" cy="685799"/>
          </a:xfrm>
        </p:spPr>
        <p:txBody>
          <a:bodyPr/>
          <a:lstStyle/>
          <a:p>
            <a:r>
              <a:rPr lang="en-US" sz="3200" dirty="0"/>
              <a:t>Model Evaluation, Web Integration, and Deployment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DD0B1-BEF6-3280-D505-9E6730FF2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143001"/>
            <a:ext cx="10664825" cy="5262979"/>
          </a:xfrm>
        </p:spPr>
        <p:txBody>
          <a:bodyPr/>
          <a:lstStyle/>
          <a:p>
            <a:r>
              <a:rPr lang="en-IN" b="1" dirty="0"/>
              <a:t>7. Model Evaluation</a:t>
            </a:r>
          </a:p>
          <a:p>
            <a:r>
              <a:rPr lang="en-IN" dirty="0"/>
              <a:t>Evaluated using </a:t>
            </a:r>
            <a:r>
              <a:rPr lang="en-IN" b="1" dirty="0"/>
              <a:t>Accuracy, Precision, Recall, F1-Score</a:t>
            </a:r>
            <a:r>
              <a:rPr lang="en-IN" dirty="0"/>
              <a:t>, and confusion matrix.</a:t>
            </a:r>
          </a:p>
          <a:p>
            <a:r>
              <a:rPr lang="en-IN" dirty="0"/>
              <a:t>The stacked ensemble (GRU + </a:t>
            </a:r>
            <a:r>
              <a:rPr lang="en-IN" dirty="0" err="1"/>
              <a:t>TabNet</a:t>
            </a:r>
            <a:r>
              <a:rPr lang="en-IN" dirty="0"/>
              <a:t> + XGBoost) shows strong class-wise prediction quality.</a:t>
            </a:r>
          </a:p>
          <a:p>
            <a:r>
              <a:rPr lang="en-IN" dirty="0"/>
              <a:t>Achieved </a:t>
            </a:r>
            <a:r>
              <a:rPr lang="en-IN" b="1" dirty="0"/>
              <a:t>96% accuracy</a:t>
            </a:r>
            <a:r>
              <a:rPr lang="en-IN" dirty="0"/>
              <a:t>, outperforming earlier hybrid ML models (≈95%).</a:t>
            </a:r>
          </a:p>
          <a:p>
            <a:r>
              <a:rPr lang="en-IN" dirty="0"/>
              <a:t>SHAP plots validate feature influence and ensure transparent decision-making.</a:t>
            </a:r>
          </a:p>
          <a:p>
            <a:r>
              <a:rPr lang="en-IN" b="1" dirty="0"/>
              <a:t>8. Web Integration (Flask Interface)</a:t>
            </a:r>
          </a:p>
          <a:p>
            <a:r>
              <a:rPr lang="en-IN" dirty="0"/>
              <a:t>A </a:t>
            </a:r>
            <a:r>
              <a:rPr lang="en-IN" b="1" dirty="0"/>
              <a:t>web-based HR portal</a:t>
            </a:r>
            <a:r>
              <a:rPr lang="en-IN" dirty="0"/>
              <a:t> allows users to upload </a:t>
            </a:r>
            <a:r>
              <a:rPr lang="en-IN" b="1" dirty="0"/>
              <a:t>HR CSV files</a:t>
            </a:r>
            <a:r>
              <a:rPr lang="en-IN" dirty="0"/>
              <a:t> for attrition prediction.</a:t>
            </a:r>
          </a:p>
          <a:p>
            <a:r>
              <a:rPr lang="en-IN" dirty="0"/>
              <a:t>Uploaded data is </a:t>
            </a:r>
            <a:r>
              <a:rPr lang="en-IN" b="1" dirty="0" err="1"/>
              <a:t>preprocessed</a:t>
            </a:r>
            <a:r>
              <a:rPr lang="en-IN" b="1" dirty="0"/>
              <a:t> automatically</a:t>
            </a:r>
            <a:r>
              <a:rPr lang="en-IN" dirty="0"/>
              <a:t> (encoding → scaling → SMOTE → feature engineering).</a:t>
            </a:r>
          </a:p>
          <a:p>
            <a:r>
              <a:rPr lang="en-IN" dirty="0"/>
              <a:t>The backend runs the </a:t>
            </a:r>
            <a:r>
              <a:rPr lang="en-IN" b="1" dirty="0"/>
              <a:t>trained Fair-</a:t>
            </a:r>
            <a:r>
              <a:rPr lang="en-IN" b="1" dirty="0" err="1"/>
              <a:t>ExplainHR</a:t>
            </a:r>
            <a:r>
              <a:rPr lang="en-IN" b="1" dirty="0"/>
              <a:t> ensemble</a:t>
            </a:r>
            <a:r>
              <a:rPr lang="en-IN" dirty="0"/>
              <a:t> and returns:</a:t>
            </a:r>
          </a:p>
          <a:p>
            <a:pPr lvl="1"/>
            <a:r>
              <a:rPr lang="en-IN" dirty="0"/>
              <a:t>Predicted Attrition / Non-Attrition</a:t>
            </a:r>
          </a:p>
          <a:p>
            <a:pPr lvl="1"/>
            <a:r>
              <a:rPr lang="en-IN" dirty="0"/>
              <a:t>Explanation of top contributing factors using </a:t>
            </a:r>
            <a:r>
              <a:rPr lang="en-IN" b="1" dirty="0"/>
              <a:t>SHAP</a:t>
            </a:r>
            <a:endParaRPr lang="en-IN" dirty="0"/>
          </a:p>
          <a:p>
            <a:pPr lvl="1"/>
            <a:r>
              <a:rPr lang="en-IN" dirty="0"/>
              <a:t>Downloadable results file for HR teams.</a:t>
            </a:r>
          </a:p>
          <a:p>
            <a:r>
              <a:rPr lang="en-IN" b="1" dirty="0"/>
              <a:t> 9. Deployment</a:t>
            </a:r>
          </a:p>
          <a:p>
            <a:r>
              <a:rPr lang="en-IN" dirty="0"/>
              <a:t>Deployed as a </a:t>
            </a:r>
            <a:r>
              <a:rPr lang="en-IN" b="1" dirty="0"/>
              <a:t>Flask-based prediction service</a:t>
            </a:r>
            <a:r>
              <a:rPr lang="en-IN" dirty="0"/>
              <a:t> integrated with HRIS workflow.</a:t>
            </a:r>
          </a:p>
          <a:p>
            <a:r>
              <a:rPr lang="en-IN" dirty="0"/>
              <a:t>Supports </a:t>
            </a:r>
            <a:r>
              <a:rPr lang="en-IN" b="1" dirty="0"/>
              <a:t>real-time attrition prediction</a:t>
            </a:r>
            <a:r>
              <a:rPr lang="en-IN" dirty="0"/>
              <a:t> with explainability.</a:t>
            </a:r>
          </a:p>
          <a:p>
            <a:r>
              <a:rPr lang="en-IN" dirty="0"/>
              <a:t>Can be extended using:</a:t>
            </a:r>
          </a:p>
          <a:p>
            <a:pPr lvl="1"/>
            <a:r>
              <a:rPr lang="en-IN" b="1" dirty="0"/>
              <a:t>Docker</a:t>
            </a:r>
            <a:r>
              <a:rPr lang="en-IN" dirty="0"/>
              <a:t> for container deployment</a:t>
            </a:r>
          </a:p>
          <a:p>
            <a:pPr lvl="1"/>
            <a:r>
              <a:rPr lang="en-IN" b="1" dirty="0"/>
              <a:t>API integration</a:t>
            </a:r>
            <a:r>
              <a:rPr lang="en-IN" dirty="0"/>
              <a:t> with HR dashboards</a:t>
            </a:r>
          </a:p>
          <a:p>
            <a:endParaRPr lang="en-IN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8E93B5-AC8A-2AAD-4FA3-B80AEC05ACD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4657C11-1227-2A7B-7C7D-D2D01218E77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7620000" y="6443662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A60E169-4DA5-AD92-76F9-014B7897BAB1}"/>
              </a:ext>
            </a:extLst>
          </p:cNvPr>
          <p:cNvSpPr txBox="1"/>
          <p:nvPr/>
        </p:nvSpPr>
        <p:spPr>
          <a:xfrm>
            <a:off x="3261799" y="6456547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D64F90D-84B2-4C42-D9F3-6BED681C084D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4675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FAA4A7-8C37-52D1-FB9F-C4F1F354CF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99" y="685800"/>
            <a:ext cx="10244201" cy="548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70E7AF-327C-8BAB-A821-60D7048CC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67" y="710380"/>
            <a:ext cx="10244200" cy="54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79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diseased image&#10;&#10;Description automatically generated">
            <a:extLst>
              <a:ext uri="{FF2B5EF4-FFF2-40B4-BE49-F238E27FC236}">
                <a16:creationId xmlns:a16="http://schemas.microsoft.com/office/drawing/2014/main" id="{0E7531AC-03A1-BF25-E407-EE15C9A307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38200"/>
            <a:ext cx="10363200" cy="541020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ADFF54-6DD0-B9EA-7948-0DFAC6548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38200"/>
            <a:ext cx="10515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2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background with black text&#10;&#10;Description automatically generated">
            <a:extLst>
              <a:ext uri="{FF2B5EF4-FFF2-40B4-BE49-F238E27FC236}">
                <a16:creationId xmlns:a16="http://schemas.microsoft.com/office/drawing/2014/main" id="{BF204586-3724-674C-16A2-599564FE3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43000"/>
            <a:ext cx="10363200" cy="495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25D27C-3D7E-1811-91DF-6FC2248C2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43000"/>
            <a:ext cx="105156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49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851" y="529843"/>
            <a:ext cx="603504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45" dirty="0"/>
              <a:t>U</a:t>
            </a:r>
            <a:r>
              <a:rPr spc="-385" dirty="0"/>
              <a:t>L</a:t>
            </a:r>
            <a:r>
              <a:rPr spc="-10" dirty="0"/>
              <a:t>T</a:t>
            </a:r>
            <a:r>
              <a:rPr spc="15" dirty="0"/>
              <a:t>S</a:t>
            </a:r>
            <a:r>
              <a:rPr spc="-120" dirty="0"/>
              <a:t> </a:t>
            </a:r>
            <a:r>
              <a:rPr spc="25" dirty="0"/>
              <a:t>&amp;</a:t>
            </a:r>
            <a:r>
              <a:rPr spc="-290" dirty="0"/>
              <a:t> </a:t>
            </a:r>
            <a:r>
              <a:rPr spc="45" dirty="0"/>
              <a:t>ANA</a:t>
            </a:r>
            <a:r>
              <a:rPr spc="-385" dirty="0"/>
              <a:t>L</a:t>
            </a:r>
            <a:r>
              <a:rPr spc="-25" dirty="0"/>
              <a:t>Y</a:t>
            </a:r>
            <a:r>
              <a:rPr spc="20" dirty="0"/>
              <a:t>S</a:t>
            </a:r>
            <a:r>
              <a:rPr spc="10" dirty="0"/>
              <a:t>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A605D3B-0638-C526-1E8E-2792F92B8B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98A503BE-77FC-03E3-8077-B822235D95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527B9390-C550-1ED5-F39E-E3BB7BB04B5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600"/>
            <a:ext cx="749300" cy="179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B9454A5B-4B9E-F231-47BD-8357592336CD}"/>
              </a:ext>
            </a:extLst>
          </p:cNvPr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1E0C1-1E2D-79A6-E0C1-6FE4AEA2E0F1}"/>
              </a:ext>
            </a:extLst>
          </p:cNvPr>
          <p:cNvSpPr txBox="1"/>
          <p:nvPr/>
        </p:nvSpPr>
        <p:spPr>
          <a:xfrm>
            <a:off x="917575" y="1714621"/>
            <a:ext cx="7239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 94% 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GRU 92%,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TabNet 91%,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Stacked Ensemble 96%.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0.9753 (excellent discrimination)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vs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vs 96%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overfitting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SHAP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 Index, Income/Economic Stress,      Engagement Score are top predictors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Fairness: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Balanced accuracy and AUC across gender &amp; age groups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084B21-1722-9075-A756-F604E0B14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81" y="3687086"/>
            <a:ext cx="4378530" cy="27639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D1CC10-C8EB-075C-CAE9-DF6C91025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695" y="1167451"/>
            <a:ext cx="4378529" cy="25196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84984"/>
            <a:ext cx="100022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CONCLUSION</a:t>
            </a:r>
            <a:r>
              <a:rPr spc="-275" dirty="0"/>
              <a:t> </a:t>
            </a:r>
            <a:r>
              <a:rPr spc="25" dirty="0"/>
              <a:t>and</a:t>
            </a:r>
            <a:r>
              <a:rPr spc="-65" dirty="0"/>
              <a:t> </a:t>
            </a:r>
            <a:r>
              <a:rPr spc="25" dirty="0"/>
              <a:t>FUTURE</a:t>
            </a:r>
            <a:r>
              <a:rPr spc="-250" dirty="0"/>
              <a:t> </a:t>
            </a:r>
            <a:r>
              <a:rPr spc="25" dirty="0"/>
              <a:t>SCOPE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6200" y="6451049"/>
            <a:ext cx="1298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28800"/>
            <a:ext cx="8836025" cy="7925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en-IN" sz="45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4A0A2-9D3F-B7E9-6CA7-0DAE36D65ACB}"/>
              </a:ext>
            </a:extLst>
          </p:cNvPr>
          <p:cNvSpPr txBox="1"/>
          <p:nvPr/>
        </p:nvSpPr>
        <p:spPr>
          <a:xfrm>
            <a:off x="1008050" y="1644287"/>
            <a:ext cx="99028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Conclusion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Fair-</a:t>
            </a:r>
            <a:r>
              <a:rPr lang="en-US" sz="2400" dirty="0" err="1"/>
              <a:t>ExplainHR</a:t>
            </a:r>
            <a:r>
              <a:rPr lang="en-US" sz="2400" dirty="0"/>
              <a:t> is accurate, interpretable, and fairness-aware.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Human-centric features improve prediction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SHAP enhances transparency for HR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Future Work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Integration into live HRIS systems for real-time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validation on multi-industry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Reduce computation cost for large-scale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Explore transformer-based explainable models</a:t>
            </a:r>
          </a:p>
          <a:p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F9C0AE2-C930-BDF8-7E6F-BA629184B715}"/>
              </a:ext>
            </a:extLst>
          </p:cNvPr>
          <p:cNvSpPr txBox="1">
            <a:spLocks/>
          </p:cNvSpPr>
          <p:nvPr/>
        </p:nvSpPr>
        <p:spPr>
          <a:xfrm>
            <a:off x="890756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888888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85548720-C0D2-13A1-66BD-E666D39671B9}"/>
              </a:ext>
            </a:extLst>
          </p:cNvPr>
          <p:cNvSpPr txBox="1"/>
          <p:nvPr/>
        </p:nvSpPr>
        <p:spPr>
          <a:xfrm>
            <a:off x="5335587" y="6456857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 CB8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7910" y="529843"/>
            <a:ext cx="380746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59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2805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36357"/>
            <a:ext cx="10283825" cy="51507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400" dirty="0"/>
              <a:t>[1]. A.Ahmad, A. Khan, and S. Patel. Machine learning based predictive model for employee attrition. International Journal of Human Resource Analytics, 12(2):101 110, 2025. </a:t>
            </a:r>
          </a:p>
          <a:p>
            <a:r>
              <a:rPr lang="en-US" sz="2400" dirty="0"/>
              <a:t>[2]. G. Kaur and S. Verma. Feature importance and ensemble techniques for attrition risk modelling. Journal of Ap plied Machine Learning for Business, 9(1):73–82, 2025.</a:t>
            </a:r>
          </a:p>
          <a:p>
            <a:r>
              <a:rPr lang="en-US" sz="2400" dirty="0"/>
              <a:t>[3]. P. Krishna and R. Sidharth. Comparative analysis of classifiers for employee attrition prediction. Procedia Computer Science, 203:244–251, 2025.</a:t>
            </a:r>
          </a:p>
          <a:p>
            <a:r>
              <a:rPr lang="en-US" sz="2400" dirty="0"/>
              <a:t>[4]. V. Sharma and A. Nayyar. Fuzzy-inspired hybrid system for </a:t>
            </a:r>
            <a:r>
              <a:rPr lang="en-US" sz="2400" dirty="0" err="1"/>
              <a:t>hr</a:t>
            </a:r>
            <a:r>
              <a:rPr lang="en-US" sz="2400" dirty="0"/>
              <a:t> turnover forecasting. Journal of Intelligent Decision Support Systems, 18(1):45–56, 2025.</a:t>
            </a:r>
          </a:p>
          <a:p>
            <a:r>
              <a:rPr lang="en-US" sz="2400" dirty="0"/>
              <a:t>[5]. A. Verma, P. Bhavsar, and R. Patel. Comparative study of classification algorithms for employee attrition pre diction. In IEEE International Conference on Inventive Systems and Control, pages 112–117, 2020.</a:t>
            </a:r>
            <a:endParaRPr lang="en-IN" sz="2400" dirty="0"/>
          </a:p>
          <a:p>
            <a:pPr marL="457200" indent="-457200">
              <a:lnSpc>
                <a:spcPts val="2455"/>
              </a:lnSpc>
              <a:spcBef>
                <a:spcPts val="125"/>
              </a:spcBef>
              <a:buAutoNum type="arabicPeriod"/>
              <a:tabLst>
                <a:tab pos="457200" algn="l"/>
                <a:tab pos="470534" algn="l"/>
              </a:tabLst>
            </a:pPr>
            <a:endParaRPr lang="en-IN" sz="21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887050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pic>
        <p:nvPicPr>
          <p:cNvPr id="9" name="Content Placeholder 2">
            <a:extLst>
              <a:ext uri="{FF2B5EF4-FFF2-40B4-BE49-F238E27FC236}">
                <a16:creationId xmlns:a16="http://schemas.microsoft.com/office/drawing/2014/main" id="{FC0D0F7C-B2FD-C5B2-B778-D72F8FE1327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3320" y="609600"/>
            <a:ext cx="9185360" cy="51772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05-12-2025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106600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600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CB8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pic>
        <p:nvPicPr>
          <p:cNvPr id="9" name="Content Placeholder 1">
            <a:extLst>
              <a:ext uri="{FF2B5EF4-FFF2-40B4-BE49-F238E27FC236}">
                <a16:creationId xmlns:a16="http://schemas.microsoft.com/office/drawing/2014/main" id="{41706558-8090-A4A6-08CA-B0EFAA70C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39" y="1046480"/>
            <a:ext cx="8655341" cy="4592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1779</TotalTime>
  <Words>2380</Words>
  <Application>Microsoft Office PowerPoint</Application>
  <PresentationFormat>Widescreen</PresentationFormat>
  <Paragraphs>325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MT</vt:lpstr>
      <vt:lpstr>Calibri</vt:lpstr>
      <vt:lpstr>Times New Roman</vt:lpstr>
      <vt:lpstr>Office Theme</vt:lpstr>
      <vt:lpstr>Department of Computer Science and Engineering Explainable Fairness-Attentive ML and DL(Fair-ExplainHR):Ethical and Transparent Attrition Prediction with Engagement, Economic, and Behavioral Signals </vt:lpstr>
      <vt:lpstr>OUTLINE</vt:lpstr>
      <vt:lpstr>ABSTRACT</vt:lpstr>
      <vt:lpstr>INTRODUCTION</vt:lpstr>
      <vt:lpstr>PROBLEM STATEMENT</vt:lpstr>
      <vt:lpstr>LITERATURE SURVEY</vt:lpstr>
      <vt:lpstr>LITERATURE SURVEY</vt:lpstr>
      <vt:lpstr>RESEARCH GAPS</vt:lpstr>
      <vt:lpstr>Proposed Work &amp; Objective</vt:lpstr>
      <vt:lpstr>Major Contributions</vt:lpstr>
      <vt:lpstr>METHODOLOGY</vt:lpstr>
      <vt:lpstr>FLOW DIAGRAM</vt:lpstr>
      <vt:lpstr>Implementation Work Flow</vt:lpstr>
      <vt:lpstr> </vt:lpstr>
      <vt:lpstr>Model Evaluation, Web Integration, and Deployment  </vt:lpstr>
      <vt:lpstr>PowerPoint Presentation</vt:lpstr>
      <vt:lpstr>PowerPoint Presentation</vt:lpstr>
      <vt:lpstr>PowerPoint Presentation</vt:lpstr>
      <vt:lpstr>RESULTS &amp; ANALYSIS</vt:lpstr>
      <vt:lpstr>CONCLUSION and FUTURE SCOPE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LakshmiDurgamma Amarthaluri</dc:creator>
  <cp:lastModifiedBy>meesala sivaiah</cp:lastModifiedBy>
  <cp:revision>30</cp:revision>
  <dcterms:created xsi:type="dcterms:W3CDTF">2024-03-31T16:53:22Z</dcterms:created>
  <dcterms:modified xsi:type="dcterms:W3CDTF">2026-02-09T05:32:02Z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2023-12-24T00:00:00Z</vt:filetime>
  </property>
  <property fmtid="{D5CDD505-2E9C-101B-9397-08002B2CF9AE}" pid="3" name="LastSaved">
    <vt:filetime>2024-03-31T00:00:00Z</vt:filetime>
  </property>
</Properties>
</file>