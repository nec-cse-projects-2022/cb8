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67" r:id="rId9"/>
    <p:sldId id="265" r:id="rId10"/>
    <p:sldId id="268" r:id="rId11"/>
    <p:sldId id="262" r:id="rId12"/>
    <p:sldId id="263" r:id="rId13"/>
    <p:sldId id="264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1E3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25" autoAdjust="0"/>
    <p:restoredTop sz="94641" autoAdjust="0"/>
  </p:normalViewPr>
  <p:slideViewPr>
    <p:cSldViewPr snapToGrid="0">
      <p:cViewPr varScale="1">
        <p:scale>
          <a:sx n="78" d="100"/>
          <a:sy n="78" d="100"/>
        </p:scale>
        <p:origin x="64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3D3BF8-A9FF-4D65-8B73-859F6B153A09}" type="datetimeFigureOut">
              <a:rPr lang="en-IN" smtClean="0"/>
              <a:t>04-12-2025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F2F450-BD52-4275-A364-0F2A781051A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5089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>
              <a:lumMod val="40000"/>
              <a:lumOff val="60000"/>
              <a:alpha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Rectangle 13"/>
          <p:cNvSpPr/>
          <p:nvPr userDrawn="1"/>
        </p:nvSpPr>
        <p:spPr>
          <a:xfrm>
            <a:off x="0" y="986"/>
            <a:ext cx="12220797" cy="6858000"/>
          </a:xfrm>
          <a:prstGeom prst="rect">
            <a:avLst/>
          </a:prstGeom>
          <a:solidFill>
            <a:schemeClr val="accent1">
              <a:alpha val="62093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7414" y="6356349"/>
            <a:ext cx="2743200" cy="365125"/>
          </a:xfrm>
        </p:spPr>
        <p:txBody>
          <a:bodyPr/>
          <a:lstStyle/>
          <a:p>
            <a:fld id="{69EA049B-5800-4BCB-B7C8-C13AAA13F90C}" type="datetime4">
              <a:rPr lang="en-IN" smtClean="0"/>
              <a:t>04 December 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40474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2025 IEEE COSMIC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70B7F-E00D-48C3-8202-B93A421F3A8B}" type="slidenum">
              <a:rPr lang="en-IN" smtClean="0"/>
              <a:t>‹#›</a:t>
            </a:fld>
            <a:endParaRPr lang="en-IN" dirty="0"/>
          </a:p>
        </p:txBody>
      </p:sp>
      <p:pic>
        <p:nvPicPr>
          <p:cNvPr id="8" name="Picture 18" descr="footer_logo_new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9853"/>
          <a:stretch/>
        </p:blipFill>
        <p:spPr bwMode="auto">
          <a:xfrm>
            <a:off x="135243" y="164476"/>
            <a:ext cx="1487611" cy="1175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>
            <a:spLocks noChangeArrowheads="1"/>
          </p:cNvSpPr>
          <p:nvPr userDrawn="1"/>
        </p:nvSpPr>
        <p:spPr bwMode="auto">
          <a:xfrm>
            <a:off x="228600" y="1218868"/>
            <a:ext cx="11248420" cy="13696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3200400" algn="ctr"/>
                <a:tab pos="47656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3200400" algn="ctr"/>
                <a:tab pos="47656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3200400" algn="ctr"/>
                <a:tab pos="47656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3200400" algn="ctr"/>
                <a:tab pos="47656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3200400" algn="ctr"/>
                <a:tab pos="47656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200400" algn="ctr"/>
                <a:tab pos="47656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200400" algn="ctr"/>
                <a:tab pos="47656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200400" algn="ctr"/>
                <a:tab pos="47656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200400" algn="ctr"/>
                <a:tab pos="47656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200400" algn="ctr"/>
                <a:tab pos="4765675" algn="l"/>
              </a:tabLst>
            </a:pPr>
            <a:r>
              <a:rPr lang="en-GB" sz="2400" b="1" i="0" dirty="0">
                <a:solidFill>
                  <a:schemeClr val="bg2">
                    <a:lumMod val="25000"/>
                  </a:schemeClr>
                </a:solidFill>
                <a:effectLst/>
                <a:latin typeface="__Inter_aaf875"/>
              </a:rPr>
              <a:t>2025 IEEE International Conference on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200400" algn="ctr"/>
                <a:tab pos="4765675" algn="l"/>
              </a:tabLst>
            </a:pPr>
            <a:r>
              <a:rPr lang="en-GB" sz="2400" b="1" i="0" dirty="0">
                <a:solidFill>
                  <a:schemeClr val="bg2">
                    <a:lumMod val="25000"/>
                  </a:schemeClr>
                </a:solidFill>
                <a:effectLst/>
                <a:latin typeface="__Inter_aaf875"/>
              </a:rPr>
              <a:t>Computing, Semiconductor, Mechatronics, Intelligent Systems and Communications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200400" algn="ctr"/>
                <a:tab pos="4765675" algn="l"/>
              </a:tabLs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dobe Caslon Pro Bold" panose="0205070206050A020403" pitchFamily="18" charset="0"/>
                <a:ea typeface="Times New Roman" panose="02020603050405020304" pitchFamily="18" charset="0"/>
              </a:rPr>
              <a:t>(2025 IEEE COSMIC)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dobe Caslon Pro Bold" panose="0205070206050A0204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200400" algn="ctr"/>
                <a:tab pos="4765675" algn="l"/>
              </a:tabLst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125" y="132782"/>
            <a:ext cx="2876550" cy="59055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9067" y="138141"/>
            <a:ext cx="2351213" cy="585191"/>
          </a:xfrm>
          <a:prstGeom prst="rect">
            <a:avLst/>
          </a:prstGeom>
        </p:spPr>
      </p:pic>
      <p:sp>
        <p:nvSpPr>
          <p:cNvPr id="20" name="Rectangle 19"/>
          <p:cNvSpPr/>
          <p:nvPr userDrawn="1"/>
        </p:nvSpPr>
        <p:spPr>
          <a:xfrm>
            <a:off x="0" y="2619413"/>
            <a:ext cx="12192000" cy="191941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1" name="Picture 10" descr="A black circle with gold text&#10;&#10;Description automatically generated">
            <a:extLst>
              <a:ext uri="{FF2B5EF4-FFF2-40B4-BE49-F238E27FC236}">
                <a16:creationId xmlns:a16="http://schemas.microsoft.com/office/drawing/2014/main" id="{FC1B9154-1A22-04A5-1B7C-1EC2611C8BF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207" y="16123"/>
            <a:ext cx="1487610" cy="1503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984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Rectangle 6"/>
          <p:cNvSpPr/>
          <p:nvPr userDrawn="1"/>
        </p:nvSpPr>
        <p:spPr>
          <a:xfrm>
            <a:off x="-1191" y="0"/>
            <a:ext cx="121920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90487" y="643937"/>
            <a:ext cx="12008644" cy="56242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8760618" y="128626"/>
            <a:ext cx="33385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IN" sz="1200" dirty="0">
              <a:solidFill>
                <a:schemeClr val="bg2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1925" y="6588105"/>
            <a:ext cx="2743200" cy="12862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0F49FB9-136C-43BA-BECC-C19739F59F06}" type="datetime4">
              <a:rPr lang="en-IN" smtClean="0"/>
              <a:t>04 December 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14750" y="6588105"/>
            <a:ext cx="4114800" cy="2468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IN" dirty="0"/>
              <a:t>2025 IEEE COSMIC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55931" y="653175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8A70B7F-E00D-48C3-8202-B93A421F3A8B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FC82E7-F63B-BC2D-7AFC-BE7A46F29AC6}"/>
              </a:ext>
            </a:extLst>
          </p:cNvPr>
          <p:cNvSpPr/>
          <p:nvPr userDrawn="1"/>
        </p:nvSpPr>
        <p:spPr>
          <a:xfrm>
            <a:off x="10757647" y="4782"/>
            <a:ext cx="1341484" cy="6185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8" name="Picture 17" descr="A black circle with gold text&#10;&#10;Description automatically generated">
            <a:extLst>
              <a:ext uri="{FF2B5EF4-FFF2-40B4-BE49-F238E27FC236}">
                <a16:creationId xmlns:a16="http://schemas.microsoft.com/office/drawing/2014/main" id="{71B2E021-F968-314A-DF08-3210876E5F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8462" y="46307"/>
            <a:ext cx="538791" cy="544523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3A89CE28-704F-5D3B-6C84-EF6C6A5FFA9D}"/>
              </a:ext>
            </a:extLst>
          </p:cNvPr>
          <p:cNvSpPr/>
          <p:nvPr userDrawn="1"/>
        </p:nvSpPr>
        <p:spPr>
          <a:xfrm>
            <a:off x="90487" y="141269"/>
            <a:ext cx="1058691" cy="719078"/>
          </a:xfrm>
          <a:prstGeom prst="ellipse">
            <a:avLst/>
          </a:prstGeom>
          <a:solidFill>
            <a:srgbClr val="1B1E3E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9" name="Picture 18" descr="A blue and white logo&#10;&#10;Description automatically generated">
            <a:extLst>
              <a:ext uri="{FF2B5EF4-FFF2-40B4-BE49-F238E27FC236}">
                <a16:creationId xmlns:a16="http://schemas.microsoft.com/office/drawing/2014/main" id="{A54A6B0E-5D2D-F485-CD9B-02616138D97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3255" y="54081"/>
            <a:ext cx="503529" cy="544818"/>
          </a:xfrm>
          <a:prstGeom prst="rect">
            <a:avLst/>
          </a:prstGeom>
        </p:spPr>
      </p:pic>
      <p:pic>
        <p:nvPicPr>
          <p:cNvPr id="15" name="Picture 18" descr="footer_logo_new"/>
          <p:cNvPicPr>
            <a:picLocks noChangeAspect="1" noChangeArrowheads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r="79863"/>
          <a:stretch/>
        </p:blipFill>
        <p:spPr bwMode="auto">
          <a:xfrm>
            <a:off x="261257" y="188359"/>
            <a:ext cx="687879" cy="533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1890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19150"/>
            <a:ext cx="10515600" cy="871538"/>
          </a:xfrm>
        </p:spPr>
        <p:txBody>
          <a:bodyPr/>
          <a:lstStyle>
            <a:lvl1pPr>
              <a:defRPr>
                <a:latin typeface="+mn-lt"/>
                <a:ea typeface="Adobe Gothic Std B" panose="020B0800000000000000" pitchFamily="34" charset="-128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A0732-ECCC-42FE-9A00-74CF76C9F63F}" type="datetime4">
              <a:rPr lang="en-IN" smtClean="0"/>
              <a:t>04 December 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2023 IEEE DISCOVER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70B7F-E00D-48C3-8202-B93A421F3A8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0027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79211-C5B3-40A2-B3D0-BE555B721FFC}" type="datetime4">
              <a:rPr lang="en-IN" smtClean="0"/>
              <a:t>04 December 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2023 IEEE DISCOVER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70B7F-E00D-48C3-8202-B93A421F3A8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3954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DE074-FEA5-4B99-A97F-98804C108DDD}" type="datetime4">
              <a:rPr lang="en-IN" smtClean="0"/>
              <a:t>04 December 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2023 IEEE DISCOVER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70B7F-E00D-48C3-8202-B93A421F3A8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4239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802CD-DCFE-46B9-99B9-8C718703D1E3}" type="datetime4">
              <a:rPr lang="en-IN" smtClean="0"/>
              <a:t>04 December 2025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2023 IEEE DISCOVER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70B7F-E00D-48C3-8202-B93A421F3A8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4753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14400"/>
            <a:ext cx="10515600" cy="776288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BD5D3-5832-48E1-8472-7036272AA2F0}" type="datetime4">
              <a:rPr lang="en-IN" smtClean="0"/>
              <a:t>04 December 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2023 IEEE DISCOVER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70B7F-E00D-48C3-8202-B93A421F3A8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7092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91546-03C2-441F-AE92-1CB90001DE6F}" type="datetime4">
              <a:rPr lang="en-IN" smtClean="0"/>
              <a:t>04 December 2025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2023 IEEE DISCOVER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70B7F-E00D-48C3-8202-B93A421F3A8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2753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F1A03-FF4A-42B1-A093-47C17BD0C434}" type="datetime4">
              <a:rPr lang="en-IN" smtClean="0"/>
              <a:t>04 December 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2023 IEEE DISCOVER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70B7F-E00D-48C3-8202-B93A421F3A8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6529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F3427-86FD-410A-8172-743271C43663}" type="datetime4">
              <a:rPr lang="en-IN" smtClean="0"/>
              <a:t>04 December 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2023 IEEE DISCOVER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70B7F-E00D-48C3-8202-B93A421F3A8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3656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3EC1-7DB1-42BC-9999-DC9F2196AEE4}" type="datetime4">
              <a:rPr lang="en-IN" smtClean="0"/>
              <a:t>04 December 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2023 IEEE DISCOVER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70B7F-E00D-48C3-8202-B93A421F3A8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41483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60A63-E59F-459B-9C59-FBC924E287C6}" type="datetime4">
              <a:rPr lang="en-IN" smtClean="0"/>
              <a:t>04 December 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2023 IEEE DISCOVER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70B7F-E00D-48C3-8202-B93A421F3A8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9643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72A564-8A85-4130-90AE-1E0B3E686E68}" type="datetime4">
              <a:rPr lang="en-IN" smtClean="0"/>
              <a:t>04 December 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dirty="0"/>
              <a:t>2023 IEEE DISCOVER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A70B7F-E00D-48C3-8202-B93A421F3A8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1387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3A226-298C-4707-94FD-85D06903B886}" type="datetime4">
              <a:rPr lang="en-IN" smtClean="0"/>
              <a:t>04 December 2025</a:t>
            </a:fld>
            <a:endParaRPr lang="en-IN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2025 IEEE COSMIC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70B7F-E00D-48C3-8202-B93A421F3A8B}" type="slidenum">
              <a:rPr lang="en-IN" smtClean="0"/>
              <a:t>1</a:t>
            </a:fld>
            <a:endParaRPr lang="en-IN" dirty="0"/>
          </a:p>
        </p:txBody>
      </p:sp>
      <p:sp>
        <p:nvSpPr>
          <p:cNvPr id="2" name="TextBox 1"/>
          <p:cNvSpPr txBox="1"/>
          <p:nvPr/>
        </p:nvSpPr>
        <p:spPr>
          <a:xfrm>
            <a:off x="1071818" y="2835057"/>
            <a:ext cx="1028198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Explainable Fairness-Attentive ML and DL(Fair-ExplainHR):Ethical and </a:t>
            </a:r>
          </a:p>
          <a:p>
            <a:r>
              <a:rPr lang="en-US" sz="2800" dirty="0"/>
              <a:t>    Transparent Attrition Prediction with Engagement, Economic,</a:t>
            </a:r>
          </a:p>
          <a:p>
            <a:r>
              <a:rPr lang="en-US" sz="2800" dirty="0"/>
              <a:t>                                    and Behavioral Signals</a:t>
            </a:r>
            <a:r>
              <a:rPr lang="en-US" sz="2800" dirty="0">
                <a:latin typeface="Times New Roman" panose="02020603050405020304" pitchFamily="18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 </a:t>
            </a:r>
            <a:endParaRPr lang="en-IN" sz="2800" dirty="0">
              <a:latin typeface="Times New Roman" panose="02020603050405020304" pitchFamily="18" charset="0"/>
              <a:ea typeface="Adobe Heiti Std R" panose="020B0400000000000000" pitchFamily="34" charset="-128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7414" y="4624375"/>
            <a:ext cx="1055018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S.V.N. Sreenivasu, Meesala Sivaiah, Manikanta Mallela, Ikkurthi Dhanush, Dodda Venkata Reddy</a:t>
            </a:r>
          </a:p>
          <a:p>
            <a:pPr algn="ctr"/>
            <a:r>
              <a:rPr lang="en-IN" dirty="0"/>
              <a:t>Department of CSE, Narasaraopeta Engineering College (Autonomous), </a:t>
            </a:r>
          </a:p>
          <a:p>
            <a:pPr algn="ctr"/>
            <a:r>
              <a:rPr lang="en-IN" dirty="0"/>
              <a:t>Narasaraopet, Palnadu (Dt), Andhra Pradesh, India.</a:t>
            </a:r>
            <a:endParaRPr lang="en-US" b="1" dirty="0">
              <a:latin typeface="Adobe Fangsong Std R" panose="02020400000000000000" pitchFamily="18" charset="-128"/>
              <a:ea typeface="Adobe Fangsong Std R" panose="02020400000000000000" pitchFamily="18" charset="-128"/>
            </a:endParaRPr>
          </a:p>
          <a:p>
            <a:pPr algn="ctr"/>
            <a:endParaRPr lang="en-US" b="1" dirty="0">
              <a:latin typeface="Adobe Fangsong Std R" panose="02020400000000000000" pitchFamily="18" charset="-128"/>
              <a:ea typeface="Adobe Fangsong Std R" panose="02020400000000000000" pitchFamily="18" charset="-128"/>
            </a:endParaRPr>
          </a:p>
          <a:p>
            <a:pPr algn="ctr"/>
            <a:endParaRPr lang="en-US" b="1" dirty="0">
              <a:latin typeface="Adobe Fangsong Std R" panose="02020400000000000000" pitchFamily="18" charset="-128"/>
              <a:ea typeface="Adobe Fangsong Std R" panose="02020400000000000000" pitchFamily="18" charset="-128"/>
            </a:endParaRPr>
          </a:p>
          <a:p>
            <a:pPr algn="ctr"/>
            <a:endParaRPr lang="en-US" b="1" dirty="0">
              <a:latin typeface="Adobe Fangsong Std R" panose="02020400000000000000" pitchFamily="18" charset="-128"/>
              <a:ea typeface="Adobe Fangsong Std R" panose="02020400000000000000" pitchFamily="18" charset="-128"/>
            </a:endParaRPr>
          </a:p>
          <a:p>
            <a:pPr algn="ctr"/>
            <a:endParaRPr lang="en-IN" dirty="0"/>
          </a:p>
          <a:p>
            <a:pPr algn="ctr"/>
            <a:endParaRPr lang="en-IN" b="1" dirty="0">
              <a:latin typeface="Adobe Fangsong Std R" panose="02020400000000000000" pitchFamily="18" charset="-128"/>
              <a:ea typeface="Adobe Fangsong Std 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50017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158213"/>
            <a:ext cx="10515600" cy="38735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3958760"/>
              </p:ext>
            </p:extLst>
          </p:nvPr>
        </p:nvGraphicFramePr>
        <p:xfrm>
          <a:off x="585787" y="1787527"/>
          <a:ext cx="11034713" cy="329184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969536">
                  <a:extLst>
                    <a:ext uri="{9D8B030D-6E8A-4147-A177-3AD203B41FA5}">
                      <a16:colId xmlns:a16="http://schemas.microsoft.com/office/drawing/2014/main" val="4054640313"/>
                    </a:ext>
                  </a:extLst>
                </a:gridCol>
                <a:gridCol w="10065177">
                  <a:extLst>
                    <a:ext uri="{9D8B030D-6E8A-4147-A177-3AD203B41FA5}">
                      <a16:colId xmlns:a16="http://schemas.microsoft.com/office/drawing/2014/main" val="3409065591"/>
                    </a:ext>
                  </a:extLst>
                </a:gridCol>
              </a:tblGrid>
              <a:tr h="341894">
                <a:tc>
                  <a:txBody>
                    <a:bodyPr/>
                    <a:lstStyle/>
                    <a:p>
                      <a:r>
                        <a:rPr lang="en-US" dirty="0"/>
                        <a:t>Si. No</a:t>
                      </a:r>
                      <a:endParaRPr lang="en-IN" dirty="0">
                        <a:latin typeface="Arie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Particulars</a:t>
                      </a:r>
                      <a:endParaRPr lang="en-IN" dirty="0">
                        <a:latin typeface="Arie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2477223"/>
                  </a:ext>
                </a:extLst>
              </a:tr>
              <a:tr h="341894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Abstract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3215262"/>
                  </a:ext>
                </a:extLst>
              </a:tr>
              <a:tr h="341894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Introduction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7795316"/>
                  </a:ext>
                </a:extLst>
              </a:tr>
              <a:tr h="341894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Literature Survey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5247723"/>
                  </a:ext>
                </a:extLst>
              </a:tr>
              <a:tr h="341894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Proposed work/Objective/Contribution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6186594"/>
                  </a:ext>
                </a:extLst>
              </a:tr>
              <a:tr h="341894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Methodology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251402"/>
                  </a:ext>
                </a:extLst>
              </a:tr>
              <a:tr h="341894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Results and</a:t>
                      </a:r>
                      <a:r>
                        <a:rPr lang="en-US" baseline="0" dirty="0"/>
                        <a:t> Discussions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8125306"/>
                  </a:ext>
                </a:extLst>
              </a:tr>
              <a:tr h="341894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en-US" dirty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Conclusion and Future Work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4311917"/>
                  </a:ext>
                </a:extLst>
              </a:tr>
              <a:tr h="341894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References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349688"/>
                  </a:ext>
                </a:extLst>
              </a:tr>
            </a:tbl>
          </a:graphicData>
        </a:graphic>
      </p:graphicFrame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26C01-80C7-4788-9BC7-6C29C712274D}" type="datetime4">
              <a:rPr lang="en-IN" smtClean="0"/>
              <a:t>04 December 2025</a:t>
            </a:fld>
            <a:endParaRPr lang="en-IN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2025 IEEE COSMIC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70B7F-E00D-48C3-8202-B93A421F3A8B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313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2175" y="1489681"/>
            <a:ext cx="10515600" cy="72866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l Nile" pitchFamily="2" charset="-78"/>
                <a:cs typeface="Al Nile" pitchFamily="2" charset="-78"/>
              </a:rPr>
              <a:t>Abstract</a:t>
            </a:r>
            <a:br>
              <a:rPr lang="en-US" dirty="0">
                <a:latin typeface="Al Nile" pitchFamily="2" charset="-78"/>
                <a:cs typeface="Al Nile" pitchFamily="2" charset="-78"/>
              </a:rPr>
            </a:br>
            <a:br>
              <a:rPr lang="en-US" dirty="0">
                <a:latin typeface="Al Nile" pitchFamily="2" charset="-78"/>
                <a:cs typeface="Al Nile" pitchFamily="2" charset="-78"/>
              </a:rPr>
            </a:br>
            <a:endParaRPr lang="en-IN" dirty="0">
              <a:latin typeface="Al Nile" pitchFamily="2" charset="-78"/>
              <a:cs typeface="Al Nile" pitchFamily="2" charset="-78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D942B-465A-4A56-BE07-70A6638B46CB}" type="datetime4">
              <a:rPr lang="en-IN" smtClean="0"/>
              <a:t>04 December 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2025 IEEE COSMIC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70B7F-E00D-48C3-8202-B93A421F3A8B}" type="slidenum">
              <a:rPr lang="en-IN" smtClean="0"/>
              <a:t>3</a:t>
            </a:fld>
            <a:endParaRPr lang="en-IN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23EDAE44-0C5A-00D9-A89D-E0E8951769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41421"/>
            <a:ext cx="10291916" cy="390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Employee attrition impacts productivity and cost.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Existing models lack fairness, interpretability, and human-focused                           signals.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Fair-ExplainHR integrates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burnout, engagement, economic stress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Uses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deep stacked ensemble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GRU + TabNet + XGBoost.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Achieves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96% accuracy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outperforming hybrid baselines.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SHAP ensures transparent and ethical predictions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55154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28675"/>
            <a:ext cx="10515600" cy="862013"/>
          </a:xfrm>
        </p:spPr>
        <p:txBody>
          <a:bodyPr/>
          <a:lstStyle/>
          <a:p>
            <a:r>
              <a:rPr lang="en-US" dirty="0">
                <a:latin typeface="+mn-lt"/>
              </a:rPr>
              <a:t>Introduction</a:t>
            </a:r>
            <a:endParaRPr lang="en-IN" dirty="0">
              <a:latin typeface="+mn-lt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A0E70-0B98-4620-A6E9-04408AE1CE29}" type="datetime4">
              <a:rPr lang="en-IN" smtClean="0"/>
              <a:t>04 December 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2025 IEEE COSMIC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70B7F-E00D-48C3-8202-B93A421F3A8B}" type="slidenum">
              <a:rPr lang="en-IN" smtClean="0"/>
              <a:pPr/>
              <a:t>4</a:t>
            </a:fld>
            <a:endParaRPr lang="en-IN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A4415860-CF60-84A8-2267-9396C848452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41237" y="1690688"/>
            <a:ext cx="11450763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Employee attrition severely disrupts organizational workflow and increases operational 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rehiring costs.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Traditional machine learning models provide good accuracy but often lack fairness, transparency,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explainability.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There is a growing need for human-centric, ethically reliable, and interpretable prediction systems.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proposed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Fair-ExplainHR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framework integrates engineered behavioral, engagement,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economic features to capture deeper attrition signals.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system combines deep learning architectures with explainable AI techniques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enhance both predictive accuracy and transparency.</a:t>
            </a:r>
          </a:p>
        </p:txBody>
      </p:sp>
    </p:spTree>
    <p:extLst>
      <p:ext uri="{BB962C8B-B14F-4D97-AF65-F5344CB8AC3E}">
        <p14:creationId xmlns:p14="http://schemas.microsoft.com/office/powerpoint/2010/main" val="2384897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76300"/>
            <a:ext cx="10515600" cy="814388"/>
          </a:xfrm>
        </p:spPr>
        <p:txBody>
          <a:bodyPr/>
          <a:lstStyle/>
          <a:p>
            <a:r>
              <a:rPr lang="en-US" dirty="0">
                <a:latin typeface="+mn-lt"/>
              </a:rPr>
              <a:t>Literature Survey and Gaps</a:t>
            </a:r>
            <a:endParaRPr lang="en-IN" dirty="0">
              <a:latin typeface="+mn-lt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854A2-31F8-4372-8CAF-7848B472DDD2}" type="datetime4">
              <a:rPr lang="en-IN" smtClean="0"/>
              <a:t>04 December 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2025 IEEE COSMIC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70B7F-E00D-48C3-8202-B93A421F3A8B}" type="slidenum">
              <a:rPr lang="en-IN" smtClean="0"/>
              <a:pPr/>
              <a:t>5</a:t>
            </a:fld>
            <a:endParaRPr lang="en-IN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8D7F30BA-FF42-BE8C-9870-32133A692B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2844" y="1805292"/>
            <a:ext cx="8078430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Traditional models (RF, SVM, DT) show limited accuracy (&lt;90–95%).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 fairness or bias evaluation in prior works.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Behavioral &amp; engagement features not used.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Deep models lack explainability (No SHAP).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 model combines GRU + TabNet + XGBoost + SHAP.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Limited feature engineering for HR-specific signals.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Existing solutions not transparent or HR-friendly.</a:t>
            </a:r>
          </a:p>
        </p:txBody>
      </p:sp>
    </p:spTree>
    <p:extLst>
      <p:ext uri="{BB962C8B-B14F-4D97-AF65-F5344CB8AC3E}">
        <p14:creationId xmlns:p14="http://schemas.microsoft.com/office/powerpoint/2010/main" val="168139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42975"/>
            <a:ext cx="10515600" cy="747713"/>
          </a:xfrm>
        </p:spPr>
        <p:txBody>
          <a:bodyPr/>
          <a:lstStyle/>
          <a:p>
            <a:r>
              <a:rPr lang="en-US" dirty="0">
                <a:latin typeface="+mn-lt"/>
              </a:rPr>
              <a:t>Proposed Work/Objective/Contribution </a:t>
            </a:r>
            <a:endParaRPr lang="en-IN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Proposed Work</a:t>
            </a:r>
          </a:p>
          <a:p>
            <a:r>
              <a:rPr lang="en-US" sz="2000" dirty="0"/>
              <a:t>Develop </a:t>
            </a:r>
            <a:r>
              <a:rPr lang="en-US" sz="2000" b="1" dirty="0"/>
              <a:t>Fair-ExplainHR</a:t>
            </a:r>
            <a:r>
              <a:rPr lang="en-US" sz="2000" dirty="0"/>
              <a:t>, a fairness-aware and interpretable attrition prediction framework.</a:t>
            </a:r>
          </a:p>
          <a:p>
            <a:r>
              <a:rPr lang="en-US" sz="2000" dirty="0"/>
              <a:t>Integrate </a:t>
            </a:r>
            <a:r>
              <a:rPr lang="en-US" sz="2000" b="1" dirty="0"/>
              <a:t>engineered behavioral, engagement, and economic features</a:t>
            </a:r>
            <a:r>
              <a:rPr lang="en-US" sz="2000" dirty="0"/>
              <a:t> to improve prediction quality.</a:t>
            </a:r>
          </a:p>
          <a:p>
            <a:r>
              <a:rPr lang="en-US" sz="2000" dirty="0"/>
              <a:t>Build a </a:t>
            </a:r>
            <a:r>
              <a:rPr lang="en-US" sz="2000" b="1" dirty="0"/>
              <a:t>deep stacked ensemble</a:t>
            </a:r>
            <a:r>
              <a:rPr lang="en-US" sz="2000" dirty="0"/>
              <a:t> using GRU + TabNet + XGBoost with Optuna tuning.</a:t>
            </a:r>
          </a:p>
          <a:p>
            <a:r>
              <a:rPr lang="en-US" sz="2000" dirty="0"/>
              <a:t>Apply </a:t>
            </a:r>
            <a:r>
              <a:rPr lang="en-US" sz="2000" b="1" dirty="0"/>
              <a:t>SMOTE, feature selection, and correlation analysis</a:t>
            </a:r>
            <a:r>
              <a:rPr lang="en-US" sz="2000" dirty="0"/>
              <a:t> to strengthen model performance.</a:t>
            </a:r>
          </a:p>
          <a:p>
            <a:r>
              <a:rPr lang="en-US" sz="2000" dirty="0"/>
              <a:t>Provide </a:t>
            </a:r>
            <a:r>
              <a:rPr lang="en-US" sz="2000" b="1" dirty="0"/>
              <a:t>transparent SHAP-based explanations</a:t>
            </a:r>
            <a:r>
              <a:rPr lang="en-US" sz="2000" dirty="0"/>
              <a:t> for HR decision-making.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400" dirty="0"/>
              <a:t>Objective </a:t>
            </a:r>
          </a:p>
          <a:p>
            <a:r>
              <a:rPr lang="en-US" sz="2000" dirty="0"/>
              <a:t>Build a fairness-aware and interpretable attrition model.</a:t>
            </a:r>
          </a:p>
          <a:p>
            <a:r>
              <a:rPr lang="en-US" sz="2000" dirty="0"/>
              <a:t>Introduce engineered features: burnout,engagement,economic stress.</a:t>
            </a:r>
          </a:p>
          <a:p>
            <a:r>
              <a:rPr lang="en-US" sz="2000" dirty="0"/>
              <a:t>Improve accuracy beyond existing hybrid models.</a:t>
            </a:r>
          </a:p>
          <a:p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endParaRPr lang="en-IN" sz="1100" dirty="0"/>
          </a:p>
          <a:p>
            <a:endParaRPr lang="en-IN" sz="1100" dirty="0"/>
          </a:p>
          <a:p>
            <a:endParaRPr lang="en-IN" sz="1100" dirty="0"/>
          </a:p>
          <a:p>
            <a:endParaRPr lang="en-IN" sz="1100" dirty="0"/>
          </a:p>
          <a:p>
            <a:endParaRPr lang="en-IN" sz="1100" dirty="0"/>
          </a:p>
          <a:p>
            <a:endParaRPr lang="en-IN" sz="1100" dirty="0"/>
          </a:p>
          <a:p>
            <a:endParaRPr lang="en-IN" sz="1100" dirty="0"/>
          </a:p>
          <a:p>
            <a:endParaRPr lang="en-IN" sz="1100" dirty="0"/>
          </a:p>
          <a:p>
            <a:endParaRPr lang="en-IN" sz="1100" dirty="0"/>
          </a:p>
          <a:p>
            <a:endParaRPr lang="en-IN" sz="1100" dirty="0"/>
          </a:p>
          <a:p>
            <a:endParaRPr lang="en-IN" sz="1100" dirty="0"/>
          </a:p>
          <a:p>
            <a:endParaRPr lang="en-IN" sz="1100" dirty="0"/>
          </a:p>
          <a:p>
            <a:endParaRPr lang="en-IN" sz="1100" dirty="0"/>
          </a:p>
          <a:p>
            <a:pPr marL="0" indent="0">
              <a:buNone/>
            </a:pPr>
            <a:endParaRPr lang="en-IN" sz="1100" dirty="0"/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22 November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2025 IEEE COSMIC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70B7F-E00D-48C3-8202-B93A421F3A8B}" type="slidenum">
              <a:rPr lang="en-IN" smtClean="0"/>
              <a:pPr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5963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C9E63-BB7A-C524-820F-1E8B30B69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7BC52-A423-2787-4326-750FD7D8A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F2600-4996-A222-E53B-CC5BAB3E0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49FB9-136C-43BA-BECC-C19739F59F06}" type="datetime4">
              <a:rPr lang="en-IN" smtClean="0"/>
              <a:t>04 December 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A436A4-959C-E86E-D337-186A43101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2025 IEEE COSMIC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DB78D-D4F2-C39C-8D5F-6064096CE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70B7F-E00D-48C3-8202-B93A421F3A8B}" type="slidenum">
              <a:rPr lang="en-IN" smtClean="0"/>
              <a:pPr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1761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61024-2237-ECF1-55A2-3A3F6FD05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7E4EA-A963-0B8A-4DBA-4F4BE1F22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716" y="1253330"/>
            <a:ext cx="10663084" cy="46263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 Proposed Work And Major Contributions </a:t>
            </a:r>
          </a:p>
          <a:p>
            <a:pPr marL="0" indent="0">
              <a:buNone/>
            </a:pPr>
            <a:r>
              <a:rPr lang="en-IN" sz="2000" dirty="0"/>
              <a:t>Novel Deep Stacked Ensemble:</a:t>
            </a:r>
            <a:r>
              <a:rPr lang="en-US" sz="2000" dirty="0"/>
              <a:t>Combines GRU, TabNet, and XGBoost through a meta-classifier to achieve </a:t>
            </a:r>
            <a:r>
              <a:rPr lang="en-US" sz="2000" b="1" dirty="0"/>
              <a:t>96% accuracy</a:t>
            </a:r>
            <a:r>
              <a:rPr lang="en-US" sz="2000" dirty="0"/>
              <a:t>, outperforming traditional methods.</a:t>
            </a:r>
          </a:p>
          <a:p>
            <a:pPr marL="0" indent="0">
              <a:buNone/>
            </a:pPr>
            <a:r>
              <a:rPr lang="en-US" sz="2000" b="1" dirty="0"/>
              <a:t>Advanced Feature Engineering:</a:t>
            </a:r>
            <a:br>
              <a:rPr lang="en-US" sz="2000" dirty="0"/>
            </a:br>
            <a:r>
              <a:rPr lang="en-US" sz="2000" dirty="0"/>
              <a:t>Introduced </a:t>
            </a:r>
            <a:r>
              <a:rPr lang="en-US" sz="2000" i="1" dirty="0"/>
              <a:t>BurnoutIndex</a:t>
            </a:r>
            <a:r>
              <a:rPr lang="en-US" sz="2000" dirty="0"/>
              <a:t>, </a:t>
            </a:r>
            <a:r>
              <a:rPr lang="en-US" sz="2000" i="1" dirty="0"/>
              <a:t>EngagementScore</a:t>
            </a:r>
            <a:r>
              <a:rPr lang="en-US" sz="2000" dirty="0"/>
              <a:t>, and </a:t>
            </a:r>
            <a:r>
              <a:rPr lang="en-US" sz="2000" i="1" dirty="0"/>
              <a:t>EconomicStress</a:t>
            </a:r>
            <a:r>
              <a:rPr lang="en-US" sz="2000" dirty="0"/>
              <a:t>—highly correlated with attrition and absent in previous research.</a:t>
            </a:r>
          </a:p>
          <a:p>
            <a:pPr marL="0" indent="0">
              <a:buNone/>
            </a:pPr>
            <a:r>
              <a:rPr lang="en-US" sz="2000" b="1" dirty="0"/>
              <a:t>Optuna-Based Hyperparameter Tuning:</a:t>
            </a:r>
            <a:br>
              <a:rPr lang="en-US" sz="2000" dirty="0"/>
            </a:br>
            <a:r>
              <a:rPr lang="en-US" sz="2000" dirty="0"/>
              <a:t>Optimized all three models (GRU, TabNet, XGBoost) for improved performance and reduced variance.</a:t>
            </a:r>
          </a:p>
          <a:p>
            <a:pPr marL="0" indent="0">
              <a:buNone/>
            </a:pPr>
            <a:r>
              <a:rPr lang="en-US" sz="2000" b="1" dirty="0"/>
              <a:t>Explainable AI Integration (SHAP):</a:t>
            </a:r>
            <a:br>
              <a:rPr lang="en-US" sz="2000" dirty="0"/>
            </a:br>
            <a:r>
              <a:rPr lang="en-US" sz="2000" dirty="0"/>
              <a:t>Delivered transparent global + local explanations to eliminate black-box behavior in deep models.</a:t>
            </a:r>
            <a:endParaRPr lang="en-IN" sz="2000" dirty="0"/>
          </a:p>
          <a:p>
            <a:pPr marL="0" indent="0">
              <a:buNone/>
            </a:pPr>
            <a:r>
              <a:rPr lang="en-US" sz="2000" b="1" dirty="0"/>
              <a:t>Fairness Evaluation:</a:t>
            </a:r>
            <a:br>
              <a:rPr lang="en-US" sz="2000" dirty="0"/>
            </a:br>
            <a:r>
              <a:rPr lang="en-US" sz="2000" dirty="0"/>
              <a:t>Assessed model fairness across gender and age groups, ensuring equal performance and ethical HR predictions</a:t>
            </a:r>
            <a:endParaRPr lang="en-IN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97D208-FE1D-8E65-AFB3-F4ACA1AAE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49FB9-136C-43BA-BECC-C19739F59F06}" type="datetime4">
              <a:rPr lang="en-IN" smtClean="0"/>
              <a:t>04 December 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BFFFD3-5FA8-0A72-F8F8-793D83D16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2025 IEEE COSMIC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925973-FF95-D65E-D95F-40F46B0C9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70B7F-E00D-48C3-8202-B93A421F3A8B}" type="slidenum">
              <a:rPr lang="en-IN" smtClean="0"/>
              <a:pPr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0013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7026" y="661890"/>
            <a:ext cx="10515600" cy="900979"/>
          </a:xfrm>
        </p:spPr>
        <p:txBody>
          <a:bodyPr/>
          <a:lstStyle/>
          <a:p>
            <a:r>
              <a:rPr lang="en-US" dirty="0">
                <a:latin typeface="+mn-lt"/>
              </a:rPr>
              <a:t>Methodology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49FB9-136C-43BA-BECC-C19739F59F06}" type="datetime4">
              <a:rPr lang="en-IN" smtClean="0"/>
              <a:t>04 December 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2025 IEEE COSMIC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70B7F-E00D-48C3-8202-B93A421F3A8B}" type="slidenum">
              <a:rPr lang="en-IN" smtClean="0"/>
              <a:pPr/>
              <a:t>9</a:t>
            </a:fld>
            <a:endParaRPr lang="en-IN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15759374-C916-BB4F-28A3-FD69579469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07026" y="1446262"/>
            <a:ext cx="9377515" cy="5411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IN" sz="2000" b="1" dirty="0"/>
              <a:t>Dataset</a:t>
            </a:r>
          </a:p>
          <a:p>
            <a:r>
              <a:rPr lang="en-IN" sz="2000" dirty="0"/>
              <a:t>IBM HR Analytics dataset, </a:t>
            </a:r>
            <a:r>
              <a:rPr lang="en-IN" sz="2000" b="1" dirty="0"/>
              <a:t>1470 records</a:t>
            </a:r>
            <a:r>
              <a:rPr lang="en-IN" sz="2000" dirty="0"/>
              <a:t>, </a:t>
            </a:r>
            <a:r>
              <a:rPr lang="en-IN" sz="2000" b="1" dirty="0"/>
              <a:t>35 features</a:t>
            </a:r>
            <a:endParaRPr lang="en-IN" sz="2000" dirty="0"/>
          </a:p>
          <a:p>
            <a:pPr marL="0" indent="0">
              <a:buNone/>
            </a:pPr>
            <a:r>
              <a:rPr lang="en-IN" sz="2000" b="1" dirty="0"/>
              <a:t>Preprocessing</a:t>
            </a:r>
          </a:p>
          <a:p>
            <a:r>
              <a:rPr lang="en-IN" sz="2000" dirty="0"/>
              <a:t>Label Encoding + One-Hot Encoding</a:t>
            </a:r>
          </a:p>
          <a:p>
            <a:r>
              <a:rPr lang="en-IN" sz="2000" dirty="0"/>
              <a:t>Removed redundant/zero-variance fields</a:t>
            </a:r>
            <a:br>
              <a:rPr lang="en-IN" sz="2000" dirty="0"/>
            </a:br>
            <a:r>
              <a:rPr lang="en-IN" sz="2000" dirty="0"/>
              <a:t>(EmployeeNumber, Over18, StandardHours, EmployeeCount)</a:t>
            </a:r>
          </a:p>
          <a:p>
            <a:r>
              <a:rPr lang="en-IN" sz="2000" b="1" dirty="0"/>
              <a:t>Z-score standardization</a:t>
            </a:r>
            <a:endParaRPr lang="en-IN" sz="2000" dirty="0"/>
          </a:p>
          <a:p>
            <a:r>
              <a:rPr lang="en-IN" sz="2000" dirty="0"/>
              <a:t>SMOTE applied to balance attrition classes</a:t>
            </a:r>
          </a:p>
          <a:p>
            <a:pPr marL="0" indent="0">
              <a:buNone/>
            </a:pPr>
            <a:r>
              <a:rPr lang="en-US" sz="2000" b="1" dirty="0"/>
              <a:t>Feature Engineering</a:t>
            </a:r>
          </a:p>
          <a:p>
            <a:r>
              <a:rPr lang="en-US" sz="2000" b="1" dirty="0"/>
              <a:t>Burnout Index</a:t>
            </a:r>
            <a:r>
              <a:rPr lang="en-US" sz="2000" dirty="0"/>
              <a:t> (OverTime × low satisfaction × low work-life balance)</a:t>
            </a:r>
          </a:p>
          <a:p>
            <a:r>
              <a:rPr lang="en-US" sz="2000" b="1" dirty="0"/>
              <a:t>Engagement Score</a:t>
            </a:r>
            <a:r>
              <a:rPr lang="en-US" sz="2000" dirty="0"/>
              <a:t> (Job Satisfaction + Job Involvement)</a:t>
            </a:r>
          </a:p>
          <a:p>
            <a:r>
              <a:rPr lang="en-US" sz="2000" b="1" dirty="0"/>
              <a:t>Economic Stress Indicator</a:t>
            </a:r>
            <a:r>
              <a:rPr lang="en-US" sz="2000" dirty="0"/>
              <a:t> (Income + Distance From Home)</a:t>
            </a:r>
          </a:p>
          <a:p>
            <a:endParaRPr lang="en-IN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2130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E4FC3-FF78-5AE3-513A-88721D732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187" y="500062"/>
            <a:ext cx="10515600" cy="1325563"/>
          </a:xfrm>
        </p:spPr>
        <p:txBody>
          <a:bodyPr/>
          <a:lstStyle/>
          <a:p>
            <a:r>
              <a:rPr lang="en-US" dirty="0"/>
              <a:t>Methodology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67A66-A7D0-157A-9774-8EBF40D75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213" y="170763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000" b="1" dirty="0"/>
          </a:p>
          <a:p>
            <a:pPr marL="0" indent="0">
              <a:buNone/>
            </a:pPr>
            <a:r>
              <a:rPr lang="en-IN" sz="2000" b="1" dirty="0"/>
              <a:t>Models Used</a:t>
            </a:r>
          </a:p>
          <a:p>
            <a:r>
              <a:rPr lang="en-IN" sz="2000" b="1" dirty="0"/>
              <a:t>XGBoost</a:t>
            </a:r>
            <a:r>
              <a:rPr lang="en-IN" sz="2000" dirty="0"/>
              <a:t> (Gradient boosting)</a:t>
            </a:r>
          </a:p>
          <a:p>
            <a:r>
              <a:rPr lang="en-IN" sz="2000" b="1" dirty="0"/>
              <a:t>TabNet</a:t>
            </a:r>
            <a:r>
              <a:rPr lang="en-IN" sz="2000" dirty="0"/>
              <a:t> (Attention-based deep tabular learning)</a:t>
            </a:r>
          </a:p>
          <a:p>
            <a:r>
              <a:rPr lang="en-IN" sz="2000" b="1" dirty="0"/>
              <a:t>GRU</a:t>
            </a:r>
            <a:r>
              <a:rPr lang="en-IN" sz="2000" dirty="0"/>
              <a:t> (For feature interactions)</a:t>
            </a:r>
          </a:p>
          <a:p>
            <a:pPr marL="0" indent="0">
              <a:buNone/>
            </a:pPr>
            <a:r>
              <a:rPr lang="en-IN" sz="2000" b="1" dirty="0"/>
              <a:t>Stacked Ensemble</a:t>
            </a:r>
          </a:p>
          <a:p>
            <a:r>
              <a:rPr lang="en-IN" sz="2000" dirty="0"/>
              <a:t>Base models → </a:t>
            </a:r>
            <a:r>
              <a:rPr lang="en-IN" sz="2000" b="1" dirty="0"/>
              <a:t>Logistic Regression meta-learner</a:t>
            </a:r>
            <a:endParaRPr lang="en-IN" sz="2000" dirty="0"/>
          </a:p>
          <a:p>
            <a:r>
              <a:rPr lang="en-IN" sz="2000" dirty="0"/>
              <a:t>Final accuracy: </a:t>
            </a:r>
            <a:r>
              <a:rPr lang="en-IN" sz="2000" b="1" dirty="0"/>
              <a:t>96%</a:t>
            </a:r>
          </a:p>
          <a:p>
            <a:pPr marL="0" indent="0">
              <a:buNone/>
            </a:pPr>
            <a:endParaRPr lang="en-IN" sz="2000" dirty="0"/>
          </a:p>
          <a:p>
            <a:endParaRPr lang="en-IN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F88C0-7E5C-95CE-94C4-A421BE433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49FB9-136C-43BA-BECC-C19739F59F06}" type="datetime4">
              <a:rPr lang="en-IN" smtClean="0"/>
              <a:t>04 December 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84309-A470-918F-6D78-45B72A052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2025 IEEE COSMIC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76BA86-95D6-E5AF-924B-B54996E87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70B7F-E00D-48C3-8202-B93A421F3A8B}" type="slidenum">
              <a:rPr lang="en-IN" smtClean="0"/>
              <a:pPr/>
              <a:t>10</a:t>
            </a:fld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6DAA09-D316-40B6-00D5-BA7D2400FD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3690" y="801790"/>
            <a:ext cx="3888215" cy="5257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716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219" y="883467"/>
            <a:ext cx="10515600" cy="842963"/>
          </a:xfrm>
        </p:spPr>
        <p:txBody>
          <a:bodyPr/>
          <a:lstStyle/>
          <a:p>
            <a:r>
              <a:rPr lang="en-US" dirty="0">
                <a:latin typeface="+mn-lt"/>
              </a:rPr>
              <a:t>Results and Discussion</a:t>
            </a:r>
            <a:endParaRPr lang="en-IN" dirty="0">
              <a:latin typeface="+mn-lt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95DCD-7E1E-4C35-82AF-212C453AB499}" type="datetime4">
              <a:rPr lang="en-IN" smtClean="0"/>
              <a:t>04 December 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2025 IEEE COSMIC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70B7F-E00D-48C3-8202-B93A421F3A8B}" type="slidenum">
              <a:rPr lang="en-IN" smtClean="0"/>
              <a:pPr/>
              <a:t>11</a:t>
            </a:fld>
            <a:endParaRPr lang="en-IN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179EA0BA-5940-68D1-6D4F-5DFAFE96D8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0272" y="1884758"/>
            <a:ext cx="6990734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   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 94% 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GRU 92%,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   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TabNet 91%,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Stacked Ensemble 96%.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AUC: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0.9753 (excellent discrimination)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Training vs Testing: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100% vs 96% →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very low overfitting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SHAP Insights: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Burnout Index, Income/Economic Stress, Engagement Score are top predictors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Fairness: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Balanced accuracy and AUC across gender &amp; age groups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2F077F-40DF-2E5E-61E8-7C6594180D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90" y="1245575"/>
            <a:ext cx="4189635" cy="22143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13CF7E9-9519-8001-A09F-6ACCB1D5A9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4026" y="3618254"/>
            <a:ext cx="4114799" cy="251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6330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04875"/>
            <a:ext cx="10515600" cy="785813"/>
          </a:xfrm>
        </p:spPr>
        <p:txBody>
          <a:bodyPr/>
          <a:lstStyle/>
          <a:p>
            <a:r>
              <a:rPr lang="en-US" dirty="0">
                <a:latin typeface="+mn-lt"/>
              </a:rPr>
              <a:t>Conclusions and Future work</a:t>
            </a:r>
            <a:endParaRPr lang="en-IN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145" y="1965992"/>
            <a:ext cx="10655710" cy="4486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Conclusion</a:t>
            </a:r>
            <a:endParaRPr lang="en-US" sz="2000" dirty="0"/>
          </a:p>
          <a:p>
            <a:r>
              <a:rPr lang="en-US" sz="2000" dirty="0"/>
              <a:t>Fair-ExplainHR is accurate, interpretable, and fairness-aware.</a:t>
            </a:r>
          </a:p>
          <a:p>
            <a:r>
              <a:rPr lang="en-US" sz="2000" dirty="0"/>
              <a:t>Human-centric features improve prediction quality.</a:t>
            </a:r>
          </a:p>
          <a:p>
            <a:r>
              <a:rPr lang="en-US" sz="2000" dirty="0"/>
              <a:t>SHAP enhances transparency for HR decision-making.</a:t>
            </a:r>
          </a:p>
          <a:p>
            <a:pPr marL="0" indent="0">
              <a:buNone/>
            </a:pPr>
            <a:r>
              <a:rPr lang="en-US" sz="2000" b="1" dirty="0"/>
              <a:t>Future Work</a:t>
            </a:r>
            <a:endParaRPr lang="en-US" sz="2000" dirty="0"/>
          </a:p>
          <a:p>
            <a:r>
              <a:rPr lang="en-US" sz="2000" dirty="0"/>
              <a:t>Integration into live HRIS systems for real-time monitoring.</a:t>
            </a:r>
          </a:p>
          <a:p>
            <a:r>
              <a:rPr lang="en-US" sz="2000" dirty="0"/>
              <a:t>External validation on multi-industry datasets.</a:t>
            </a:r>
          </a:p>
          <a:p>
            <a:r>
              <a:rPr lang="en-US" sz="2000" dirty="0"/>
              <a:t>Reduce computation cost for large-scale deployment.</a:t>
            </a:r>
          </a:p>
          <a:p>
            <a:r>
              <a:rPr lang="en-US" sz="2000" dirty="0"/>
              <a:t>Explore transformer-based explainable models</a:t>
            </a:r>
          </a:p>
          <a:p>
            <a:endParaRPr lang="en-IN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A16CA-0A9D-4621-B746-5B8B06925829}" type="datetime4">
              <a:rPr lang="en-IN" smtClean="0"/>
              <a:t>04 December 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2025 IEEE COSMIC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70B7F-E00D-48C3-8202-B93A421F3A8B}" type="slidenum">
              <a:rPr lang="en-IN" smtClean="0"/>
              <a:pPr/>
              <a:t>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41658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04875"/>
            <a:ext cx="10515600" cy="785813"/>
          </a:xfrm>
        </p:spPr>
        <p:txBody>
          <a:bodyPr/>
          <a:lstStyle/>
          <a:p>
            <a:r>
              <a:rPr lang="en-US" dirty="0">
                <a:latin typeface="+mn-lt"/>
              </a:rPr>
              <a:t>References</a:t>
            </a:r>
            <a:endParaRPr lang="en-IN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86083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[1]. A.Ahmad, A. Khan, and S. Patel. Machine learning based predictive model for employee attrition. International Journal of Human Resource Analytics, 12(2):101 110, 2025. </a:t>
            </a:r>
          </a:p>
          <a:p>
            <a:pPr marL="0" indent="0">
              <a:buNone/>
            </a:pPr>
            <a:r>
              <a:rPr lang="en-US" sz="2000" dirty="0"/>
              <a:t>[2]. G. Kaur and S. Verma. Feature importance and ensemble techniques for attrition risk modelling. Journal of Ap plied Machine Learning for Business, 9(1):73–82, 2025.</a:t>
            </a:r>
          </a:p>
          <a:p>
            <a:pPr marL="0" indent="0">
              <a:buNone/>
            </a:pPr>
            <a:r>
              <a:rPr lang="en-US" sz="2000" dirty="0"/>
              <a:t>[3]. P. Krishna and R. Sidharth. Comparative analysis of classifiers for employee attrition prediction. Procedia Computer Science, 203:244–251, 2025.</a:t>
            </a:r>
          </a:p>
          <a:p>
            <a:pPr marL="0" indent="0">
              <a:buNone/>
            </a:pPr>
            <a:r>
              <a:rPr lang="en-US" sz="2000" dirty="0"/>
              <a:t>[4]. V. Sharma and A. Nayyar. Fuzzy-inspired hybrid system for hr turnover forecasting. Journal of Intelligent Decision Support Systems, 18(1):45–56, 2025.</a:t>
            </a:r>
          </a:p>
          <a:p>
            <a:pPr marL="0" indent="0">
              <a:buNone/>
            </a:pPr>
            <a:r>
              <a:rPr lang="en-US" sz="2000" dirty="0"/>
              <a:t>[5]. A. Verma, P. Bhavsar, and R. Patel. Comparative study of classification algorithms for employee attrition pre diction. In IEEE International Conference on Inventive Systems and Control, pages 112–117, 2020.</a:t>
            </a:r>
            <a:endParaRPr lang="en-IN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E89BC-A4D6-47A6-803B-881DCB54709E}" type="datetime4">
              <a:rPr lang="en-IN" smtClean="0"/>
              <a:t>04 December 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2025 IEEE COSMIC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70B7F-E00D-48C3-8202-B93A421F3A8B}" type="slidenum">
              <a:rPr lang="en-IN" smtClean="0"/>
              <a:pPr/>
              <a:t>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6037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0526C-65D9-0D12-268C-4B9124F37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49FB9-136C-43BA-BECC-C19739F59F06}" type="datetime4">
              <a:rPr lang="en-IN" smtClean="0"/>
              <a:t>04 December 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894112-0361-3BC0-7195-FA9AE771C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2025 IEEE COSMIC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6BCB12-C63F-76F4-03A0-72E1A237D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70B7F-E00D-48C3-8202-B93A421F3A8B}" type="slidenum">
              <a:rPr lang="en-IN" smtClean="0"/>
              <a:pPr/>
              <a:t>14</a:t>
            </a:fld>
            <a:endParaRPr lang="en-IN" dirty="0"/>
          </a:p>
        </p:txBody>
      </p:sp>
      <p:pic>
        <p:nvPicPr>
          <p:cNvPr id="7" name="Picture 6" descr="What To Write in a Professional Thank-You Card - Wall Street Greetings">
            <a:extLst>
              <a:ext uri="{FF2B5EF4-FFF2-40B4-BE49-F238E27FC236}">
                <a16:creationId xmlns:a16="http://schemas.microsoft.com/office/drawing/2014/main" id="{5F9E5B5E-0BE8-D02D-A4D1-533068BD4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757" y="2051267"/>
            <a:ext cx="4747054" cy="2484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1398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1646</TotalTime>
  <Words>1035</Words>
  <Application>Microsoft Office PowerPoint</Application>
  <PresentationFormat>Widescreen</PresentationFormat>
  <Paragraphs>193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__Inter_aaf875</vt:lpstr>
      <vt:lpstr>Adobe Caslon Pro Bold</vt:lpstr>
      <vt:lpstr>Adobe Fangsong Std R</vt:lpstr>
      <vt:lpstr>Al Nile</vt:lpstr>
      <vt:lpstr>Arial</vt:lpstr>
      <vt:lpstr>Arie</vt:lpstr>
      <vt:lpstr>Calibri</vt:lpstr>
      <vt:lpstr>Calibri Light</vt:lpstr>
      <vt:lpstr>Times New Roman</vt:lpstr>
      <vt:lpstr>Office Theme</vt:lpstr>
      <vt:lpstr>PowerPoint Presentation</vt:lpstr>
      <vt:lpstr>Table of Content</vt:lpstr>
      <vt:lpstr>Abstract  </vt:lpstr>
      <vt:lpstr>Introduction</vt:lpstr>
      <vt:lpstr>Literature Survey and Gaps</vt:lpstr>
      <vt:lpstr>Proposed Work/Objective/Contribution </vt:lpstr>
      <vt:lpstr>PowerPoint Presentation</vt:lpstr>
      <vt:lpstr> </vt:lpstr>
      <vt:lpstr>Methodology </vt:lpstr>
      <vt:lpstr>Methodology</vt:lpstr>
      <vt:lpstr>Results and Discussion</vt:lpstr>
      <vt:lpstr>Conclusions and Future work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HARISHA</dc:creator>
  <cp:lastModifiedBy>meesala sivaiah</cp:lastModifiedBy>
  <cp:revision>39</cp:revision>
  <dcterms:created xsi:type="dcterms:W3CDTF">2023-07-24T11:15:02Z</dcterms:created>
  <dcterms:modified xsi:type="dcterms:W3CDTF">2025-12-04T18:16:01Z</dcterms:modified>
</cp:coreProperties>
</file>